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7" r:id="rId4"/>
    <p:sldId id="258" r:id="rId5"/>
    <p:sldId id="259" r:id="rId6"/>
    <p:sldId id="267" r:id="rId7"/>
    <p:sldId id="261" r:id="rId8"/>
    <p:sldId id="262" r:id="rId9"/>
    <p:sldId id="263" r:id="rId10"/>
    <p:sldId id="264" r:id="rId12"/>
    <p:sldId id="265" r:id="rId13"/>
    <p:sldId id="268" r:id="rId14"/>
    <p:sldId id="269"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7" d="100"/>
          <a:sy n="77" d="100"/>
        </p:scale>
        <p:origin x="43"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E8F708-D1A6-4FBA-B359-CD18EE553565}"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CF7C7B-94FE-4F2B-AE19-42AA08AA1614}"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CF7C7B-94FE-4F2B-AE19-42AA08AA1614}"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71E42C1-12A1-40C7-9078-E216A156D8A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71E42C1-12A1-40C7-9078-E216A156D8A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71E42C1-12A1-40C7-9078-E216A156D8A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571E42C1-12A1-40C7-9078-E216A156D8A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571E42C1-12A1-40C7-9078-E216A156D8A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71E42C1-12A1-40C7-9078-E216A156D8A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1E42C1-12A1-40C7-9078-E216A156D8A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71E42C1-12A1-40C7-9078-E216A156D8A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71E42C1-12A1-40C7-9078-E216A156D8A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71E42C1-12A1-40C7-9078-E216A156D8A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71E42C1-12A1-40C7-9078-E216A156D8A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DEC394-CF47-49B8-AF41-E13EBF570383}"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E42C1-12A1-40C7-9078-E216A156D8AB}"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DEC394-CF47-49B8-AF41-E13EBF570383}"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jpe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248443"/>
            <a:ext cx="11994931" cy="1123157"/>
          </a:xfrm>
          <a:prstGeom prst="rect">
            <a:avLst/>
          </a:prstGeom>
        </p:spPr>
      </p:pic>
      <p:sp>
        <p:nvSpPr>
          <p:cNvPr id="3" name="object 3"/>
          <p:cNvSpPr txBox="1">
            <a:spLocks noGrp="1"/>
          </p:cNvSpPr>
          <p:nvPr>
            <p:ph type="title"/>
          </p:nvPr>
        </p:nvSpPr>
        <p:spPr>
          <a:xfrm>
            <a:off x="3287638" y="1709908"/>
            <a:ext cx="10360412" cy="860877"/>
          </a:xfrm>
          <a:prstGeom prst="rect">
            <a:avLst/>
          </a:prstGeom>
        </p:spPr>
        <p:txBody>
          <a:bodyPr vert="horz" wrap="square" lIns="0" tIns="0" rIns="0" bIns="0" rtlCol="0">
            <a:spAutoFit/>
          </a:bodyPr>
          <a:lstStyle/>
          <a:p>
            <a:pPr marL="4220845" marR="5080" indent="-4208780">
              <a:lnSpc>
                <a:spcPct val="103000"/>
              </a:lnSpc>
            </a:pPr>
            <a:r>
              <a:rPr lang="en-US" sz="2800" dirty="0"/>
              <a:t>CAPSTONE PROJECT PRESENTATION</a:t>
            </a:r>
            <a:endParaRPr sz="2800" dirty="0"/>
          </a:p>
        </p:txBody>
      </p:sp>
      <p:sp>
        <p:nvSpPr>
          <p:cNvPr id="4" name="object 4"/>
          <p:cNvSpPr txBox="1"/>
          <p:nvPr/>
        </p:nvSpPr>
        <p:spPr>
          <a:xfrm>
            <a:off x="1228699" y="2309164"/>
            <a:ext cx="9537532" cy="1109278"/>
          </a:xfrm>
          <a:prstGeom prst="rect">
            <a:avLst/>
          </a:prstGeom>
        </p:spPr>
        <p:txBody>
          <a:bodyPr vert="horz" wrap="square" lIns="0" tIns="95250" rIns="0" bIns="0" rtlCol="0">
            <a:spAutoFit/>
          </a:bodyPr>
          <a:lstStyle/>
          <a:p>
            <a:pPr algn="ctr">
              <a:lnSpc>
                <a:spcPct val="100000"/>
              </a:lnSpc>
              <a:spcBef>
                <a:spcPts val="750"/>
              </a:spcBef>
            </a:pPr>
            <a:r>
              <a:rPr sz="2800" b="1" dirty="0">
                <a:latin typeface="Times New Roman" panose="02020603050405020304"/>
                <a:cs typeface="Times New Roman" panose="02020603050405020304"/>
              </a:rPr>
              <a:t>PROJECT</a:t>
            </a:r>
            <a:r>
              <a:rPr sz="2800" b="1" spc="-145"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TITLE</a:t>
            </a:r>
            <a:endParaRPr sz="2800" dirty="0">
              <a:latin typeface="Times New Roman" panose="02020603050405020304"/>
              <a:cs typeface="Times New Roman" panose="02020603050405020304"/>
            </a:endParaRPr>
          </a:p>
          <a:p>
            <a:pPr algn="ctr">
              <a:lnSpc>
                <a:spcPct val="100000"/>
              </a:lnSpc>
              <a:spcBef>
                <a:spcPts val="745"/>
              </a:spcBef>
            </a:pPr>
            <a:r>
              <a:rPr lang="en-US" sz="3200" b="1" spc="-30" dirty="0">
                <a:solidFill>
                  <a:srgbClr val="0070C0"/>
                </a:solidFill>
                <a:latin typeface="Times New Roman" panose="02020603050405020304"/>
                <a:cs typeface="Times New Roman" panose="02020603050405020304"/>
              </a:rPr>
              <a:t>“”</a:t>
            </a:r>
            <a:endParaRPr sz="3000" b="1" dirty="0">
              <a:solidFill>
                <a:srgbClr val="00B0F0"/>
              </a:solidFill>
              <a:latin typeface="Times New Roman" panose="02020603050405020304"/>
              <a:cs typeface="Times New Roman" panose="02020603050405020304"/>
            </a:endParaRPr>
          </a:p>
        </p:txBody>
      </p:sp>
      <p:sp>
        <p:nvSpPr>
          <p:cNvPr id="5" name="object 5"/>
          <p:cNvSpPr txBox="1"/>
          <p:nvPr/>
        </p:nvSpPr>
        <p:spPr>
          <a:xfrm>
            <a:off x="611403" y="4119389"/>
            <a:ext cx="3274799" cy="3841750"/>
          </a:xfrm>
          <a:prstGeom prst="rect">
            <a:avLst/>
          </a:prstGeom>
        </p:spPr>
        <p:txBody>
          <a:bodyPr vert="horz" wrap="square" lIns="0" tIns="12700" rIns="0" bIns="0" rtlCol="0">
            <a:spAutoFit/>
          </a:bodyPr>
          <a:lstStyle/>
          <a:p>
            <a:pPr marL="199390" marR="191135" indent="-635" algn="ctr">
              <a:lnSpc>
                <a:spcPct val="150000"/>
              </a:lnSpc>
              <a:spcBef>
                <a:spcPts val="100"/>
              </a:spcBef>
            </a:pPr>
            <a:r>
              <a:rPr sz="1800" b="1" dirty="0">
                <a:latin typeface="Times New Roman" panose="02020603050405020304" pitchFamily="18" charset="0"/>
                <a:cs typeface="Times New Roman" panose="02020603050405020304" pitchFamily="18" charset="0"/>
              </a:rPr>
              <a:t>PRESENTED</a:t>
            </a:r>
            <a:r>
              <a:rPr sz="1800" b="1" spc="-45" dirty="0">
                <a:latin typeface="Times New Roman" panose="02020603050405020304" pitchFamily="18" charset="0"/>
                <a:cs typeface="Times New Roman" panose="02020603050405020304" pitchFamily="18" charset="0"/>
              </a:rPr>
              <a:t> </a:t>
            </a:r>
            <a:r>
              <a:rPr sz="1800" b="1" spc="-25" dirty="0">
                <a:latin typeface="Times New Roman" panose="02020603050405020304" pitchFamily="18" charset="0"/>
                <a:cs typeface="Times New Roman" panose="02020603050405020304" pitchFamily="18" charset="0"/>
              </a:rPr>
              <a:t>BY</a:t>
            </a:r>
            <a:endParaRPr sz="1800" b="1" spc="-25" dirty="0">
              <a:latin typeface="Times New Roman" panose="02020603050405020304" pitchFamily="18" charset="0"/>
              <a:cs typeface="Times New Roman" panose="02020603050405020304" pitchFamily="18" charset="0"/>
            </a:endParaRPr>
          </a:p>
          <a:p>
            <a:pPr marL="199390" marR="191135" indent="-635" algn="ctr">
              <a:lnSpc>
                <a:spcPct val="150000"/>
              </a:lnSpc>
              <a:spcBef>
                <a:spcPts val="100"/>
              </a:spcBef>
            </a:pPr>
            <a:r>
              <a:rPr lang="en-IN" sz="1800" b="1" spc="-10" dirty="0">
                <a:latin typeface="Times New Roman" panose="02020603050405020304" pitchFamily="18" charset="0"/>
                <a:cs typeface="Times New Roman" panose="02020603050405020304" pitchFamily="18" charset="0"/>
              </a:rPr>
              <a:t>Pradeepkumar (192425016)</a:t>
            </a:r>
            <a:endParaRPr lang="en-IN" b="1" dirty="0">
              <a:latin typeface="Times New Roman" panose="02020603050405020304" pitchFamily="18" charset="0"/>
              <a:cs typeface="Times New Roman" panose="02020603050405020304" pitchFamily="18" charset="0"/>
            </a:endParaRPr>
          </a:p>
          <a:p>
            <a:pPr marL="199390" marR="191135" indent="-635">
              <a:lnSpc>
                <a:spcPct val="150000"/>
              </a:lnSpc>
              <a:spcBef>
                <a:spcPts val="100"/>
              </a:spcBef>
            </a:pPr>
            <a:r>
              <a:rPr lang="en-IN" b="1" dirty="0">
                <a:latin typeface="Times New Roman" panose="02020603050405020304" pitchFamily="18" charset="0"/>
                <a:cs typeface="Times New Roman" panose="02020603050405020304" pitchFamily="18" charset="0"/>
              </a:rPr>
              <a:t>   Yuvaraj R (192524058)</a:t>
            </a:r>
            <a:endParaRPr lang="en-IN" b="1" dirty="0">
              <a:latin typeface="Times New Roman" panose="02020603050405020304" pitchFamily="18" charset="0"/>
              <a:cs typeface="Times New Roman" panose="02020603050405020304" pitchFamily="18" charset="0"/>
            </a:endParaRPr>
          </a:p>
          <a:p>
            <a:pPr marL="199390" marR="191135" indent="-635">
              <a:lnSpc>
                <a:spcPct val="150000"/>
              </a:lnSpc>
              <a:spcBef>
                <a:spcPts val="100"/>
              </a:spcBef>
            </a:pPr>
            <a:r>
              <a:rPr lang="en-IN" b="1" dirty="0">
                <a:latin typeface="Times New Roman" panose="02020603050405020304" pitchFamily="18" charset="0"/>
                <a:cs typeface="Times New Roman" panose="02020603050405020304" pitchFamily="18" charset="0"/>
              </a:rPr>
              <a:t>   G. Jaswanth (192472235)</a:t>
            </a:r>
            <a:endParaRPr lang="en-IN" b="1" dirty="0">
              <a:latin typeface="Times New Roman" panose="02020603050405020304" pitchFamily="18" charset="0"/>
              <a:cs typeface="Times New Roman" panose="02020603050405020304" pitchFamily="18" charset="0"/>
            </a:endParaRPr>
          </a:p>
          <a:p>
            <a:pPr marL="199390" marR="191135" indent="-635">
              <a:lnSpc>
                <a:spcPct val="150000"/>
              </a:lnSpc>
              <a:spcBef>
                <a:spcPts val="100"/>
              </a:spcBef>
            </a:pPr>
            <a:endParaRPr lang="en-IN" dirty="0">
              <a:latin typeface="Arial" panose="020B0604020202020204" pitchFamily="34" charset="0"/>
            </a:endParaRPr>
          </a:p>
          <a:p>
            <a:pPr marL="199390" marR="191135" indent="-635">
              <a:lnSpc>
                <a:spcPct val="150000"/>
              </a:lnSpc>
              <a:spcBef>
                <a:spcPts val="100"/>
              </a:spcBef>
            </a:pPr>
            <a:endParaRPr lang="en-IN" dirty="0">
              <a:latin typeface="Arial" panose="020B0604020202020204" pitchFamily="34" charset="0"/>
            </a:endParaRPr>
          </a:p>
          <a:p>
            <a:pPr marL="199390" marR="191135" indent="-635">
              <a:lnSpc>
                <a:spcPct val="150000"/>
              </a:lnSpc>
              <a:spcBef>
                <a:spcPts val="100"/>
              </a:spcBef>
            </a:pPr>
            <a:endParaRPr lang="en-IN" dirty="0">
              <a:latin typeface="Arial" panose="020B0604020202020204" pitchFamily="34" charset="0"/>
            </a:endParaRPr>
          </a:p>
          <a:p>
            <a:pPr marL="199390" marR="191135" indent="-635">
              <a:lnSpc>
                <a:spcPct val="150000"/>
              </a:lnSpc>
              <a:spcBef>
                <a:spcPts val="100"/>
              </a:spcBef>
            </a:pPr>
            <a:endParaRPr lang="en-IN" sz="1800" b="1" spc="-10" dirty="0">
              <a:latin typeface="Times New Roman" panose="02020603050405020304"/>
              <a:cs typeface="Times New Roman" panose="02020603050405020304"/>
            </a:endParaRPr>
          </a:p>
          <a:p>
            <a:pPr algn="ctr">
              <a:lnSpc>
                <a:spcPct val="100000"/>
              </a:lnSpc>
              <a:spcBef>
                <a:spcPts val="1080"/>
              </a:spcBef>
            </a:pPr>
            <a:endParaRPr sz="1800" dirty="0">
              <a:latin typeface="Times New Roman" panose="02020603050405020304"/>
              <a:cs typeface="Times New Roman" panose="02020603050405020304"/>
            </a:endParaRPr>
          </a:p>
        </p:txBody>
      </p:sp>
      <p:sp>
        <p:nvSpPr>
          <p:cNvPr id="6" name="object 6"/>
          <p:cNvSpPr txBox="1"/>
          <p:nvPr/>
        </p:nvSpPr>
        <p:spPr>
          <a:xfrm>
            <a:off x="8305799" y="4697072"/>
            <a:ext cx="2959861" cy="871008"/>
          </a:xfrm>
          <a:prstGeom prst="rect">
            <a:avLst/>
          </a:prstGeom>
        </p:spPr>
        <p:txBody>
          <a:bodyPr vert="horz" wrap="square" lIns="0" tIns="182880" rIns="0" bIns="0" rtlCol="0">
            <a:spAutoFit/>
          </a:bodyPr>
          <a:lstStyle>
            <a:defPPr>
              <a:defRPr kern="0"/>
            </a:defPPr>
          </a:lstStyle>
          <a:p>
            <a:pPr marL="635" algn="ctr">
              <a:lnSpc>
                <a:spcPct val="100000"/>
              </a:lnSpc>
              <a:spcBef>
                <a:spcPts val="1440"/>
              </a:spcBef>
            </a:pPr>
            <a:r>
              <a:rPr sz="2000" dirty="0">
                <a:latin typeface="Times New Roman" panose="02020603050405020304"/>
                <a:cs typeface="Times New Roman" panose="02020603050405020304"/>
              </a:rPr>
              <a:t>GUIDED</a:t>
            </a:r>
            <a:r>
              <a:rPr sz="2000" spc="-11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BY</a:t>
            </a:r>
            <a:endParaRPr sz="2000" dirty="0">
              <a:latin typeface="Times New Roman" panose="02020603050405020304"/>
              <a:cs typeface="Times New Roman" panose="02020603050405020304"/>
            </a:endParaRPr>
          </a:p>
          <a:p>
            <a:pPr marL="12700" marR="5080" algn="ctr">
              <a:lnSpc>
                <a:spcPct val="150000"/>
              </a:lnSpc>
              <a:spcBef>
                <a:spcPts val="130"/>
              </a:spcBef>
            </a:pPr>
            <a:r>
              <a:rPr sz="1800" b="1" spc="-20" dirty="0">
                <a:latin typeface="Times New Roman" panose="02020603050405020304"/>
                <a:cs typeface="Times New Roman" panose="02020603050405020304"/>
              </a:rPr>
              <a:t>Dr.</a:t>
            </a:r>
            <a:r>
              <a:rPr lang="en-IN" sz="1800" b="1" spc="-20" dirty="0">
                <a:latin typeface="Times New Roman" panose="02020603050405020304"/>
                <a:cs typeface="Times New Roman" panose="02020603050405020304"/>
              </a:rPr>
              <a:t> K</a:t>
            </a:r>
            <a:r>
              <a:rPr lang="en-IN" b="1" spc="-20" dirty="0">
                <a:latin typeface="Times New Roman" panose="02020603050405020304"/>
                <a:cs typeface="Times New Roman" panose="02020603050405020304"/>
              </a:rPr>
              <a:t>umaragurubaran T</a:t>
            </a:r>
            <a:r>
              <a:rPr sz="1800" b="1" spc="50" dirty="0">
                <a:latin typeface="Times New Roman" panose="02020603050405020304"/>
                <a:cs typeface="Times New Roman" panose="02020603050405020304"/>
              </a:rPr>
              <a:t> </a:t>
            </a:r>
            <a:endParaRPr sz="1800" dirty="0">
              <a:latin typeface="Times New Roman" panose="02020603050405020304"/>
              <a:cs typeface="Times New Roman" panose="02020603050405020304"/>
            </a:endParaRPr>
          </a:p>
        </p:txBody>
      </p:sp>
      <p:pic>
        <p:nvPicPr>
          <p:cNvPr id="8" name="Picture 7"/>
          <p:cNvPicPr>
            <a:picLocks noChangeAspect="1"/>
          </p:cNvPicPr>
          <p:nvPr/>
        </p:nvPicPr>
        <p:blipFill>
          <a:blip r:embed="rId2"/>
          <a:stretch>
            <a:fillRect/>
          </a:stretch>
        </p:blipFill>
        <p:spPr>
          <a:xfrm>
            <a:off x="185737" y="3041967"/>
            <a:ext cx="11820525" cy="8096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44500" y="1619250"/>
            <a:ext cx="11131550" cy="5011420"/>
          </a:xfrm>
          <a:prstGeom prst="rect">
            <a:avLst/>
          </a:prstGeom>
          <a:noFill/>
        </p:spPr>
        <p:txBody>
          <a:bodyPr wrap="square">
            <a:noAutofit/>
          </a:bodyPr>
          <a:lstStyle/>
          <a:p>
            <a:pPr algn="just">
              <a:lnSpc>
                <a:spcPct val="100000"/>
              </a:lnSpc>
              <a:spcBef>
                <a:spcPts val="1200"/>
              </a:spcBef>
              <a:spcAft>
                <a:spcPts val="300"/>
              </a:spcAft>
              <a:buNone/>
            </a:pPr>
            <a:r>
              <a:rPr lang="en-US" altLang="en-GB" b="1" dirty="0">
                <a:latin typeface="Times New Roman" panose="02020603050405020304" pitchFamily="18" charset="0"/>
                <a:cs typeface="Times New Roman" panose="02020603050405020304" pitchFamily="18" charset="0"/>
              </a:rPr>
              <a:t>Overview</a:t>
            </a: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dirty="0">
                <a:latin typeface="Times New Roman" panose="02020603050405020304" pitchFamily="18" charset="0"/>
                <a:cs typeface="Times New Roman" panose="02020603050405020304" pitchFamily="18" charset="0"/>
              </a:rPr>
              <a:t>Automatic text summarization converts lengthy documents into concise, meaningful summaries. The proposed system uses the transformer-based T5 (Text-to-Text Transfer Transformer) model to generate abstractive summaries by understanding context and producing coherent, natural-language text.</a:t>
            </a:r>
            <a:endParaRPr lang="en-US" altLang="en-GB"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b="1" dirty="0">
                <a:latin typeface="Times New Roman" panose="02020603050405020304" pitchFamily="18" charset="0"/>
                <a:cs typeface="Times New Roman" panose="02020603050405020304" pitchFamily="18" charset="0"/>
              </a:rPr>
              <a:t>Problem Statement</a:t>
            </a: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dirty="0">
                <a:latin typeface="Times New Roman" panose="02020603050405020304" pitchFamily="18" charset="0"/>
                <a:cs typeface="Times New Roman" panose="02020603050405020304" pitchFamily="18" charset="0"/>
              </a:rPr>
              <a:t>Traditional summarization methods mainly extract existing sentences and may fail to preserve the meaning, coherence, and context of complex documents. This makes them less effective for large and information-rich text.</a:t>
            </a:r>
            <a:endParaRPr lang="en-US" altLang="en-GB"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b="1" dirty="0">
                <a:latin typeface="Times New Roman" panose="02020603050405020304" pitchFamily="18" charset="0"/>
                <a:cs typeface="Times New Roman" panose="02020603050405020304" pitchFamily="18" charset="0"/>
              </a:rPr>
              <a:t>Purpose</a:t>
            </a: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dirty="0">
                <a:latin typeface="Times New Roman" panose="02020603050405020304" pitchFamily="18" charset="0"/>
                <a:cs typeface="Times New Roman" panose="02020603050405020304" pitchFamily="18" charset="0"/>
              </a:rPr>
              <a:t>To develop an automatic text summarization system using the T5 model that generates accurate, concise, fluent, and context-aware summaries for large documents.</a:t>
            </a:r>
            <a:endParaRPr lang="en-US" altLang="en-GB"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1" cstate="print">
            <a:extLst>
              <a:ext uri="{28A0092B-C50C-407E-A947-70E740481C1C}">
                <a14:useLocalDpi xmlns:a14="http://schemas.microsoft.com/office/drawing/2010/main" val="0"/>
              </a:ext>
            </a:extLst>
          </a:blip>
          <a:srcRect/>
          <a:stretch>
            <a:fillRect/>
          </a:stretch>
        </p:blipFill>
        <p:spPr>
          <a:xfrm>
            <a:off x="95693" y="0"/>
            <a:ext cx="1135117" cy="1342884"/>
          </a:xfrm>
          <a:prstGeom prst="rect">
            <a:avLst/>
          </a:prstGeom>
          <a:noFill/>
        </p:spPr>
      </p:pic>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 Box 6"/>
          <p:cNvSpPr txBox="1"/>
          <p:nvPr/>
        </p:nvSpPr>
        <p:spPr>
          <a:xfrm>
            <a:off x="3493770" y="349250"/>
            <a:ext cx="6096000" cy="645160"/>
          </a:xfrm>
          <a:prstGeom prst="rect">
            <a:avLst/>
          </a:prstGeom>
          <a:noFill/>
        </p:spPr>
        <p:txBody>
          <a:bodyPr wrap="square" rtlCol="0" anchor="t">
            <a:spAutoFit/>
          </a:bodyPr>
          <a:p>
            <a:pPr algn="just">
              <a:lnSpc>
                <a:spcPct val="100000"/>
              </a:lnSpc>
              <a:spcBef>
                <a:spcPts val="1200"/>
              </a:spcBef>
              <a:spcAft>
                <a:spcPts val="300"/>
              </a:spcAft>
              <a:buNone/>
            </a:pPr>
            <a:r>
              <a:rPr lang="en-IN" sz="3600" b="1" dirty="0">
                <a:latin typeface="Times New Roman" panose="02020603050405020304" pitchFamily="18" charset="0"/>
                <a:cs typeface="Times New Roman" panose="02020603050405020304" pitchFamily="18" charset="0"/>
                <a:sym typeface="+mn-ea"/>
              </a:rPr>
              <a:t>Introduction</a:t>
            </a:r>
            <a:endParaRPr lang="en-IN" altLang="en-US" sz="3600" b="1"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cstate="print">
            <a:extLst>
              <a:ext uri="{28A0092B-C50C-407E-A947-70E740481C1C}">
                <a14:useLocalDpi xmlns:a14="http://schemas.microsoft.com/office/drawing/2010/main" val="0"/>
              </a:ext>
            </a:extLst>
          </a:blip>
          <a:srcRect/>
          <a:stretch>
            <a:fillRect/>
          </a:stretch>
        </p:blipFill>
        <p:spPr>
          <a:xfrm>
            <a:off x="95693" y="0"/>
            <a:ext cx="1135117" cy="1342884"/>
          </a:xfrm>
          <a:prstGeom prst="rect">
            <a:avLst/>
          </a:prstGeom>
          <a:noFill/>
        </p:spPr>
      </p:pic>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5" name="TextBox 4"/>
          <p:cNvSpPr txBox="1"/>
          <p:nvPr/>
        </p:nvSpPr>
        <p:spPr>
          <a:xfrm>
            <a:off x="4650143" y="413360"/>
            <a:ext cx="6097772"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Objectives</a:t>
            </a:r>
            <a:endParaRPr lang="en-IN" sz="36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05740" y="1775460"/>
            <a:ext cx="11601450" cy="3499485"/>
          </a:xfrm>
          <a:prstGeom prst="rect">
            <a:avLst/>
          </a:prstGeom>
          <a:noFill/>
        </p:spPr>
        <p:txBody>
          <a:bodyPr wrap="square">
            <a:noAutofit/>
          </a:bodyPr>
          <a:lstStyle/>
          <a:p>
            <a:pPr algn="just">
              <a:lnSpc>
                <a:spcPct val="100000"/>
              </a:lnSpc>
              <a:spcBef>
                <a:spcPts val="1200"/>
              </a:spcBef>
              <a:spcAft>
                <a:spcPts val="300"/>
              </a:spcAft>
              <a:buNone/>
            </a:pPr>
            <a:r>
              <a:rPr lang="en-US" altLang="en-GB" b="1" dirty="0">
                <a:latin typeface="Times New Roman" panose="02020603050405020304" pitchFamily="18" charset="0"/>
                <a:cs typeface="Times New Roman" panose="02020603050405020304" pitchFamily="18" charset="0"/>
              </a:rPr>
              <a:t>Define Clear Goals</a:t>
            </a: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dirty="0">
                <a:latin typeface="Times New Roman" panose="02020603050405020304" pitchFamily="18" charset="0"/>
                <a:cs typeface="Times New Roman" panose="02020603050405020304" pitchFamily="18" charset="0"/>
              </a:rPr>
              <a:t>To design and implement an automatic text summarization system using a transformer-based T5 model.</a:t>
            </a:r>
            <a:endParaRPr lang="en-US" altLang="en-GB"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b="1" dirty="0">
                <a:latin typeface="Times New Roman" panose="02020603050405020304" pitchFamily="18" charset="0"/>
                <a:cs typeface="Times New Roman" panose="02020603050405020304" pitchFamily="18" charset="0"/>
              </a:rPr>
              <a:t>Address the Problem Statement</a:t>
            </a: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dirty="0">
                <a:latin typeface="Times New Roman" panose="02020603050405020304" pitchFamily="18" charset="0"/>
                <a:cs typeface="Times New Roman" panose="02020603050405020304" pitchFamily="18" charset="0"/>
              </a:rPr>
              <a:t>To overcome the limitations of traditional summarization methods by generating coherent, context-aware, and meaningful abstractive summaries.</a:t>
            </a:r>
            <a:endParaRPr lang="en-US" altLang="en-GB"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b="1" dirty="0">
                <a:latin typeface="Times New Roman" panose="02020603050405020304" pitchFamily="18" charset="0"/>
                <a:cs typeface="Times New Roman" panose="02020603050405020304" pitchFamily="18" charset="0"/>
              </a:rPr>
              <a:t>Expected Outcomes</a:t>
            </a: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dirty="0">
                <a:latin typeface="Times New Roman" panose="02020603050405020304" pitchFamily="18" charset="0"/>
                <a:cs typeface="Times New Roman" panose="02020603050405020304" pitchFamily="18" charset="0"/>
              </a:rPr>
              <a:t>To develop an efficient summarization model that produces accurate, concise, and grammatically correct summaries fo</a:t>
            </a:r>
            <a:r>
              <a:rPr lang="en-IN" altLang="en-US" dirty="0">
                <a:latin typeface="Times New Roman" panose="02020603050405020304" pitchFamily="18" charset="0"/>
                <a:cs typeface="Times New Roman" panose="02020603050405020304" pitchFamily="18" charset="0"/>
              </a:rPr>
              <a:t>r </a:t>
            </a:r>
            <a:endParaRPr lang="en-IN" altLang="en-US" dirty="0">
              <a:latin typeface="Times New Roman" panose="02020603050405020304" pitchFamily="18" charset="0"/>
              <a:cs typeface="Times New Roman" panose="02020603050405020304" pitchFamily="18" charset="0"/>
            </a:endParaRPr>
          </a:p>
          <a:p>
            <a:pPr algn="l">
              <a:lnSpc>
                <a:spcPct val="100000"/>
              </a:lnSpc>
              <a:spcBef>
                <a:spcPts val="1200"/>
              </a:spcBef>
              <a:spcAft>
                <a:spcPts val="300"/>
              </a:spcAft>
              <a:buNone/>
            </a:pPr>
            <a:r>
              <a:rPr lang="en-IN" altLang="en-US" dirty="0">
                <a:latin typeface="Times New Roman" panose="02020603050405020304" pitchFamily="18" charset="0"/>
                <a:cs typeface="Times New Roman" panose="02020603050405020304" pitchFamily="18" charset="0"/>
              </a:rPr>
              <a:t>large text documents.</a:t>
            </a:r>
            <a:br>
              <a:rPr lang="en-US" dirty="0">
                <a:latin typeface="Times New Roman" panose="02020603050405020304" pitchFamily="18" charset="0"/>
                <a:cs typeface="Times New Roman" panose="02020603050405020304" pitchFamily="18" charset="0"/>
              </a:rPr>
            </a:br>
            <a:endParaRPr lang="en-US" b="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95693"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4127766" y="413493"/>
            <a:ext cx="6881922" cy="645160"/>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 Background</a:t>
            </a:r>
            <a:endParaRPr lang="en-IN" sz="36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918133" y="1961307"/>
            <a:ext cx="10035534" cy="3907790"/>
          </a:xfrm>
          <a:prstGeom prst="rect">
            <a:avLst/>
          </a:prstGeom>
          <a:noFill/>
        </p:spPr>
        <p:txBody>
          <a:bodyPr wrap="square">
            <a:spAutoFit/>
          </a:bodyPr>
          <a:lstStyle/>
          <a:p>
            <a:pPr algn="just">
              <a:lnSpc>
                <a:spcPct val="100000"/>
              </a:lnSpc>
              <a:spcBef>
                <a:spcPts val="1200"/>
              </a:spcBef>
              <a:spcAft>
                <a:spcPts val="300"/>
              </a:spcAft>
              <a:buNone/>
            </a:pPr>
            <a:r>
              <a:rPr lang="en-US" altLang="en-GB" b="1" dirty="0">
                <a:latin typeface="Times New Roman" panose="02020603050405020304" pitchFamily="18" charset="0"/>
                <a:cs typeface="Times New Roman" panose="02020603050405020304" pitchFamily="18" charset="0"/>
              </a:rPr>
              <a:t>Existing Research</a:t>
            </a: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dirty="0">
                <a:latin typeface="Times New Roman" panose="02020603050405020304" pitchFamily="18" charset="0"/>
                <a:cs typeface="Times New Roman" panose="02020603050405020304" pitchFamily="18" charset="0"/>
              </a:rPr>
              <a:t>Early text summarization approaches primarily focused on extractive techniques, while recent research increasingly uses transformer-based models for abstractive summarization. Models such as BERT, GPT, and T5 have demonstrated improved performance by capturing contextual and semantic relationships through attention mechanisms.</a:t>
            </a:r>
            <a:endParaRPr lang="en-US" altLang="en-GB"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b="1" dirty="0">
                <a:latin typeface="Times New Roman" panose="02020603050405020304" pitchFamily="18" charset="0"/>
                <a:cs typeface="Times New Roman" panose="02020603050405020304" pitchFamily="18" charset="0"/>
              </a:rPr>
              <a:t>Research Gap</a:t>
            </a:r>
            <a:endParaRPr lang="en-US" altLang="en-GB" b="1" dirty="0">
              <a:latin typeface="Times New Roman" panose="02020603050405020304" pitchFamily="18" charset="0"/>
              <a:cs typeface="Times New Roman" panose="02020603050405020304" pitchFamily="18" charset="0"/>
            </a:endParaRPr>
          </a:p>
          <a:p>
            <a:pPr algn="just">
              <a:lnSpc>
                <a:spcPct val="100000"/>
              </a:lnSpc>
              <a:spcBef>
                <a:spcPts val="1200"/>
              </a:spcBef>
              <a:spcAft>
                <a:spcPts val="300"/>
              </a:spcAft>
              <a:buNone/>
            </a:pPr>
            <a:r>
              <a:rPr lang="en-US" altLang="en-GB" dirty="0">
                <a:latin typeface="Times New Roman" panose="02020603050405020304" pitchFamily="18" charset="0"/>
                <a:cs typeface="Times New Roman" panose="02020603050405020304" pitchFamily="18" charset="0"/>
              </a:rPr>
              <a:t>Despite these advancements, challenges remain in generating concise and coherent summaries for long documents while minimizing information loss. This highlights the need for optimized T5-based approaches that can improve summary quality and handle long-document summarization effectively.</a:t>
            </a:r>
            <a:br>
              <a:rPr lang="en-US" dirty="0">
                <a:latin typeface="Times New Roman" panose="02020603050405020304" pitchFamily="18" charset="0"/>
                <a:cs typeface="Times New Roman" panose="02020603050405020304" pitchFamily="18" charset="0"/>
              </a:rPr>
            </a:br>
            <a:endParaRPr lang="en-US" b="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a:xfrm>
            <a:off x="95693" y="0"/>
            <a:ext cx="1135117" cy="1342884"/>
          </a:xfrm>
          <a:prstGeom prst="rect">
            <a:avLst/>
          </a:prstGeom>
          <a:noFill/>
        </p:spPr>
      </p:pic>
      <p:sp>
        <p:nvSpPr>
          <p:cNvPr id="6" name="TextBox 5"/>
          <p:cNvSpPr txBox="1"/>
          <p:nvPr/>
        </p:nvSpPr>
        <p:spPr>
          <a:xfrm>
            <a:off x="4350327" y="459527"/>
            <a:ext cx="4248727" cy="553998"/>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Methodology</a:t>
            </a:r>
            <a:endParaRPr lang="en-IN" sz="30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87926" y="1637713"/>
            <a:ext cx="11166764" cy="4246245"/>
          </a:xfrm>
          <a:prstGeom prst="rect">
            <a:avLst/>
          </a:prstGeom>
          <a:noFill/>
        </p:spPr>
        <p:txBody>
          <a:bodyPr wrap="square">
            <a:spAutoFit/>
          </a:bodyPr>
          <a:lstStyle/>
          <a:p>
            <a:pPr algn="just">
              <a:lnSpc>
                <a:spcPct val="100000"/>
              </a:lnSpc>
              <a:buNone/>
            </a:pPr>
            <a:r>
              <a:rPr lang="en-US" altLang="en-GB" b="1" i="0" dirty="0">
                <a:solidFill>
                  <a:srgbClr val="0D0D0D"/>
                </a:solidFill>
                <a:effectLst/>
                <a:latin typeface="Times New Roman" panose="02020603050405020304" pitchFamily="18" charset="0"/>
                <a:cs typeface="Times New Roman" panose="02020603050405020304" pitchFamily="18" charset="0"/>
              </a:rPr>
              <a:t>Tools &amp; Frameworks</a:t>
            </a:r>
            <a:endParaRPr lang="en-US" altLang="en-GB" b="1"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endParaRPr lang="en-US" altLang="en-GB" b="0"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r>
              <a:rPr lang="en-US" altLang="en-GB" b="0" i="0" dirty="0">
                <a:solidFill>
                  <a:srgbClr val="0D0D0D"/>
                </a:solidFill>
                <a:effectLst/>
                <a:latin typeface="Times New Roman" panose="02020603050405020304" pitchFamily="18" charset="0"/>
                <a:cs typeface="Times New Roman" panose="02020603050405020304" pitchFamily="18" charset="0"/>
              </a:rPr>
              <a:t>The system is developed using Python with deep learning and NLP libraries such as PyTorch, Hugging Face Transformers, and tokenizer utilities. Pandas and NumPy are used for data handling and analysis, while ROUGE metrics are used for model evaluation.</a:t>
            </a:r>
            <a:endParaRPr lang="en-US" altLang="en-GB" b="0"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endParaRPr lang="en-US" altLang="en-GB" b="0"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r>
              <a:rPr lang="en-US" altLang="en-GB" b="1" i="0" dirty="0">
                <a:solidFill>
                  <a:srgbClr val="0D0D0D"/>
                </a:solidFill>
                <a:effectLst/>
                <a:latin typeface="Times New Roman" panose="02020603050405020304" pitchFamily="18" charset="0"/>
                <a:cs typeface="Times New Roman" panose="02020603050405020304" pitchFamily="18" charset="0"/>
              </a:rPr>
              <a:t>Development Approach</a:t>
            </a:r>
            <a:endParaRPr lang="en-US" altLang="en-GB" b="1"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endParaRPr lang="en-US" altLang="en-GB" b="0"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r>
              <a:rPr lang="en-US" altLang="en-GB" b="0" i="0" dirty="0">
                <a:solidFill>
                  <a:srgbClr val="0D0D0D"/>
                </a:solidFill>
                <a:effectLst/>
                <a:latin typeface="Times New Roman" panose="02020603050405020304" pitchFamily="18" charset="0"/>
                <a:cs typeface="Times New Roman" panose="02020603050405020304" pitchFamily="18" charset="0"/>
              </a:rPr>
              <a:t>A transformer-based abstractive summarization approach is adopted. A pretrained T5/mT5 model is fine-tuned on multilingual data using a supervised learning pipeline consisting of preprocessing, training, validation, and testing.</a:t>
            </a:r>
            <a:endParaRPr lang="en-US" altLang="en-GB" b="0"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endParaRPr lang="en-US" altLang="en-GB" b="1"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r>
              <a:rPr lang="en-US" altLang="en-GB" b="1" i="0" dirty="0">
                <a:solidFill>
                  <a:srgbClr val="0D0D0D"/>
                </a:solidFill>
                <a:effectLst/>
                <a:latin typeface="Times New Roman" panose="02020603050405020304" pitchFamily="18" charset="0"/>
                <a:cs typeface="Times New Roman" panose="02020603050405020304" pitchFamily="18" charset="0"/>
              </a:rPr>
              <a:t>Data Collection</a:t>
            </a:r>
            <a:endParaRPr lang="en-US" altLang="en-GB" b="1"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endParaRPr lang="en-US" altLang="en-GB" b="0" i="0" dirty="0">
              <a:solidFill>
                <a:srgbClr val="0D0D0D"/>
              </a:solidFill>
              <a:effectLst/>
              <a:latin typeface="Times New Roman" panose="02020603050405020304" pitchFamily="18" charset="0"/>
              <a:cs typeface="Times New Roman" panose="02020603050405020304" pitchFamily="18" charset="0"/>
            </a:endParaRPr>
          </a:p>
          <a:p>
            <a:pPr algn="just">
              <a:lnSpc>
                <a:spcPct val="100000"/>
              </a:lnSpc>
              <a:buNone/>
            </a:pPr>
            <a:r>
              <a:rPr lang="en-US" altLang="en-GB" b="0" i="0" dirty="0">
                <a:solidFill>
                  <a:srgbClr val="0D0D0D"/>
                </a:solidFill>
                <a:effectLst/>
                <a:latin typeface="Times New Roman" panose="02020603050405020304" pitchFamily="18" charset="0"/>
                <a:cs typeface="Times New Roman" panose="02020603050405020304" pitchFamily="18" charset="0"/>
              </a:rPr>
              <a:t>The dataset consists of multilingual news articles and their human-written summaries collected from online news sources. The data is organized into training, validation, and test sets to support effective model training and evaluation.</a:t>
            </a:r>
            <a:endParaRPr lang="en-US" altLang="en-GB" b="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95454" y="736526"/>
            <a:ext cx="6097772"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System Design / Architecture</a:t>
            </a:r>
            <a:endParaRPr lang="en-IN" sz="36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1">
            <a:extLst>
              <a:ext uri="{96DAC541-7B7A-43D3-8B79-37D633B846F1}">
                <asvg:svgBlip xmlns:asvg="http://schemas.microsoft.com/office/drawing/2016/SVG/main" r:embed="rId2"/>
              </a:ext>
            </a:extLst>
          </a:blip>
          <a:stretch>
            <a:fillRect/>
          </a:stretch>
        </p:blipFill>
        <p:spPr>
          <a:xfrm>
            <a:off x="5905500" y="3238500"/>
            <a:ext cx="381000" cy="381000"/>
          </a:xfrm>
          <a:prstGeom prst="rect">
            <a:avLst/>
          </a:prstGeom>
        </p:spPr>
      </p:pic>
      <p:pic>
        <p:nvPicPr>
          <p:cNvPr id="7" name="Picture 6"/>
          <p:cNvPicPr>
            <a:picLocks noChangeAspect="1"/>
          </p:cNvPicPr>
          <p:nvPr/>
        </p:nvPicPr>
        <p:blipFill>
          <a:blip r:embed="rId3"/>
          <a:stretch>
            <a:fillRect/>
          </a:stretch>
        </p:blipFill>
        <p:spPr>
          <a:xfrm>
            <a:off x="952500" y="355600"/>
            <a:ext cx="10287000" cy="6502400"/>
          </a:xfrm>
          <a:prstGeom prst="rect">
            <a:avLst/>
          </a:prstGeom>
        </p:spPr>
      </p:pic>
      <p:pic>
        <p:nvPicPr>
          <p:cNvPr id="8" name="Picture 7"/>
          <p:cNvPicPr/>
          <p:nvPr/>
        </p:nvPicPr>
        <p:blipFill>
          <a:blip r:embed="rId4">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pic>
        <p:nvPicPr>
          <p:cNvPr id="9" name="Picture 8"/>
          <p:cNvPicPr/>
          <p:nvPr/>
        </p:nvPicPr>
        <p:blipFill>
          <a:blip r:embed="rId5" cstate="print">
            <a:extLst>
              <a:ext uri="{28A0092B-C50C-407E-A947-70E740481C1C}">
                <a14:useLocalDpi xmlns:a14="http://schemas.microsoft.com/office/drawing/2010/main" val="0"/>
              </a:ext>
            </a:extLst>
          </a:blip>
          <a:srcRect/>
          <a:stretch>
            <a:fillRect/>
          </a:stretch>
        </p:blipFill>
        <p:spPr>
          <a:xfrm>
            <a:off x="95693" y="0"/>
            <a:ext cx="1135117" cy="1342884"/>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95693"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1526381" y="256939"/>
            <a:ext cx="9010555" cy="1077218"/>
          </a:xfrm>
          <a:prstGeom prst="rect">
            <a:avLst/>
          </a:prstGeom>
          <a:noFill/>
        </p:spPr>
        <p:txBody>
          <a:bodyPr wrap="square">
            <a:spAutoFit/>
          </a:bodyPr>
          <a:lstStyle/>
          <a:p>
            <a:pPr algn="ctr"/>
            <a:r>
              <a:rPr lang="en-IN" sz="3000" b="1" dirty="0">
                <a:latin typeface="Times New Roman" panose="02020603050405020304" pitchFamily="18" charset="0"/>
                <a:cs typeface="Times New Roman" panose="02020603050405020304" pitchFamily="18" charset="0"/>
              </a:rPr>
              <a:t>Module 1: </a:t>
            </a:r>
            <a:r>
              <a:rPr lang="en-IN" sz="3200" b="1" dirty="0">
                <a:latin typeface="Times New Roman" panose="02020603050405020304" pitchFamily="18" charset="0"/>
                <a:cs typeface="Times New Roman" panose="02020603050405020304" pitchFamily="18" charset="0"/>
              </a:rPr>
              <a:t>Data Collection, Preparation and Text Preprocessing</a:t>
            </a:r>
            <a:endParaRPr lang="en-IN" sz="30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24338" y="1665950"/>
            <a:ext cx="6917125" cy="5077460"/>
          </a:xfrm>
          <a:prstGeom prst="rect">
            <a:avLst/>
          </a:prstGeom>
          <a:noFill/>
        </p:spPr>
        <p:txBody>
          <a:bodyPr wrap="square">
            <a:spAutoFit/>
          </a:bodyPr>
          <a:lstStyle/>
          <a:p>
            <a:pPr algn="just"/>
            <a:r>
              <a:rPr lang="en-US" altLang="en-GB" b="1" dirty="0">
                <a:latin typeface="Times New Roman" panose="02020603050405020304" pitchFamily="18" charset="0"/>
                <a:cs typeface="Times New Roman" panose="02020603050405020304" pitchFamily="18" charset="0"/>
              </a:rPr>
              <a:t>Description</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Collection of text datasets from reliable sources.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Cleaning text by removing noise, special characters, and unnecessary symbols.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Tokenization, normalization, and dataset formatting for T5 model training and evaluation.</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Splitting the dataset into training, validation, and testing sets.</a:t>
            </a:r>
            <a:endParaRPr lang="en-US" altLang="en-GB" dirty="0">
              <a:latin typeface="Times New Roman" panose="02020603050405020304" pitchFamily="18" charset="0"/>
              <a:cs typeface="Times New Roman" panose="02020603050405020304" pitchFamily="18" charset="0"/>
            </a:endParaRPr>
          </a:p>
          <a:p>
            <a:pPr algn="just"/>
            <a:endParaRPr lang="en-US" altLang="en-GB" b="1" dirty="0">
              <a:latin typeface="Times New Roman" panose="02020603050405020304" pitchFamily="18" charset="0"/>
              <a:cs typeface="Times New Roman" panose="02020603050405020304" pitchFamily="18" charset="0"/>
            </a:endParaRPr>
          </a:p>
          <a:p>
            <a:pPr algn="just"/>
            <a:r>
              <a:rPr lang="en-US" altLang="en-GB" b="1" dirty="0">
                <a:latin typeface="Times New Roman" panose="02020603050405020304" pitchFamily="18" charset="0"/>
                <a:cs typeface="Times New Roman" panose="02020603050405020304" pitchFamily="18" charset="0"/>
              </a:rPr>
              <a:t>Advantages</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Improves data quality and consistency.</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Reduces noise in raw text.</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Enhances model training efficiency and accuracy.</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Produces a well-structured dataset for summarization.</a:t>
            </a:r>
            <a:endParaRPr lang="en-US" altLang="en-GB" dirty="0">
              <a:latin typeface="Times New Roman" panose="02020603050405020304" pitchFamily="18" charset="0"/>
              <a:cs typeface="Times New Roman" panose="02020603050405020304" pitchFamily="18" charset="0"/>
            </a:endParaRPr>
          </a:p>
          <a:p>
            <a:pPr algn="just"/>
            <a:endParaRPr lang="en-US" altLang="en-GB" b="1" dirty="0">
              <a:latin typeface="Times New Roman" panose="02020603050405020304" pitchFamily="18" charset="0"/>
              <a:cs typeface="Times New Roman" panose="02020603050405020304" pitchFamily="18" charset="0"/>
            </a:endParaRPr>
          </a:p>
          <a:p>
            <a:pPr algn="just"/>
            <a:r>
              <a:rPr lang="en-US" altLang="en-GB" b="1" dirty="0">
                <a:latin typeface="Times New Roman" panose="02020603050405020304" pitchFamily="18" charset="0"/>
                <a:cs typeface="Times New Roman" panose="02020603050405020304" pitchFamily="18" charset="0"/>
              </a:rPr>
              <a:t>Limitations</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Over-cleaning may remove useful contextual information.</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Preprocessing large datasets can be time-consuming.</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Preprocessing rules may vary across different languages and domains.</a:t>
            </a:r>
            <a:endParaRPr lang="en-US" altLang="en-GB" dirty="0">
              <a:latin typeface="Times New Roman" panose="02020603050405020304" pitchFamily="18" charset="0"/>
              <a:cs typeface="Times New Roman" panose="02020603050405020304" pitchFamily="18" charset="0"/>
            </a:endParaRPr>
          </a:p>
        </p:txBody>
      </p:sp>
      <p:sp>
        <p:nvSpPr>
          <p:cNvPr id="10" name="Rectangle 9"/>
          <p:cNvSpPr/>
          <p:nvPr/>
        </p:nvSpPr>
        <p:spPr>
          <a:xfrm>
            <a:off x="8558784" y="1249898"/>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latin typeface="Times New Roman" panose="02020603050405020304" pitchFamily="18" charset="0"/>
                <a:cs typeface="Times New Roman" panose="02020603050405020304" pitchFamily="18" charset="0"/>
              </a:rPr>
              <a:t>Raw Text Data</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9116568" y="5901289"/>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accent2"/>
                </a:solidFill>
                <a:latin typeface="Times New Roman" panose="02020603050405020304" pitchFamily="18" charset="0"/>
                <a:cs typeface="Times New Roman" panose="02020603050405020304" pitchFamily="18" charset="0"/>
              </a:rPr>
              <a:t>Preprocessed</a:t>
            </a:r>
            <a:r>
              <a:rPr lang="en-IN" b="1" dirty="0">
                <a:solidFill>
                  <a:schemeClr val="accent2"/>
                </a:solidFill>
                <a:latin typeface="Times New Roman" panose="02020603050405020304" pitchFamily="18" charset="0"/>
                <a:cs typeface="Times New Roman" panose="02020603050405020304" pitchFamily="18" charset="0"/>
              </a:rPr>
              <a:t> Dataset</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7223759" y="4832812"/>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latin typeface="Times New Roman" panose="02020603050405020304" pitchFamily="18" charset="0"/>
                <a:cs typeface="Times New Roman" panose="02020603050405020304" pitchFamily="18" charset="0"/>
              </a:rPr>
              <a:t>Normalization</a:t>
            </a:r>
            <a:r>
              <a:rPr lang="en-IN" dirty="0"/>
              <a:t> </a:t>
            </a:r>
            <a:endParaRPr lang="en-IN" dirty="0"/>
          </a:p>
        </p:txBody>
      </p:sp>
      <p:sp>
        <p:nvSpPr>
          <p:cNvPr id="13" name="Rectangle 12"/>
          <p:cNvSpPr/>
          <p:nvPr/>
        </p:nvSpPr>
        <p:spPr>
          <a:xfrm>
            <a:off x="9116568" y="3707362"/>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latin typeface="Times New Roman" panose="02020603050405020304" pitchFamily="18" charset="0"/>
                <a:cs typeface="Times New Roman" panose="02020603050405020304" pitchFamily="18" charset="0"/>
              </a:rPr>
              <a:t>Tokenization</a:t>
            </a:r>
            <a:r>
              <a:rPr lang="en-IN" dirty="0"/>
              <a:t> </a:t>
            </a:r>
            <a:endParaRPr lang="en-IN" dirty="0"/>
          </a:p>
        </p:txBody>
      </p:sp>
      <p:sp>
        <p:nvSpPr>
          <p:cNvPr id="14" name="Rectangle 13"/>
          <p:cNvSpPr/>
          <p:nvPr/>
        </p:nvSpPr>
        <p:spPr>
          <a:xfrm>
            <a:off x="7223759" y="2536352"/>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latin typeface="Times New Roman" panose="02020603050405020304" pitchFamily="18" charset="0"/>
                <a:cs typeface="Times New Roman" panose="02020603050405020304" pitchFamily="18" charset="0"/>
              </a:rPr>
              <a:t>Text Cleaning</a:t>
            </a:r>
            <a:endParaRPr lang="en-IN" b="1" dirty="0">
              <a:solidFill>
                <a:schemeClr val="accent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86549"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9" name="TextBox 8"/>
          <p:cNvSpPr txBox="1"/>
          <p:nvPr/>
        </p:nvSpPr>
        <p:spPr>
          <a:xfrm>
            <a:off x="1100063" y="271872"/>
            <a:ext cx="9043416" cy="953135"/>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	Module 2: Transformer-Based T5 Model Development &amp; </a:t>
            </a:r>
            <a:r>
              <a:rPr lang="en-US" altLang="en-GB" sz="2800" b="1" dirty="0">
                <a:latin typeface="Times New Roman" panose="02020603050405020304" pitchFamily="18" charset="0"/>
                <a:cs typeface="Times New Roman" panose="02020603050405020304" pitchFamily="18" charset="0"/>
              </a:rPr>
              <a:t>Summarization</a:t>
            </a:r>
            <a:endParaRPr lang="en-US" altLang="en-GB" sz="28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462082" y="1701445"/>
            <a:ext cx="7666933" cy="4799965"/>
          </a:xfrm>
          <a:prstGeom prst="rect">
            <a:avLst/>
          </a:prstGeom>
          <a:noFill/>
        </p:spPr>
        <p:txBody>
          <a:bodyPr wrap="square">
            <a:spAutoFit/>
          </a:bodyPr>
          <a:lstStyle/>
          <a:p>
            <a:pPr algn="just"/>
            <a:r>
              <a:rPr lang="en-US" altLang="en-GB" b="1" dirty="0">
                <a:latin typeface="Times New Roman" panose="02020603050405020304" pitchFamily="18" charset="0"/>
                <a:cs typeface="Times New Roman" panose="02020603050405020304" pitchFamily="18" charset="0"/>
              </a:rPr>
              <a:t>Description</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Load the pre-trained T5 Transformer model.</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Fine-tune the model using the prepared dataset.</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Configure hyperparameters such as learning rate, batch size, and epochs.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Generate abstractive summaries using the fine-tuned T5 model.</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Save the trained model for summary generation.</a:t>
            </a:r>
            <a:endParaRPr lang="en-US" altLang="en-GB" dirty="0">
              <a:latin typeface="Times New Roman" panose="02020603050405020304" pitchFamily="18" charset="0"/>
              <a:cs typeface="Times New Roman" panose="02020603050405020304" pitchFamily="18" charset="0"/>
            </a:endParaRPr>
          </a:p>
          <a:p>
            <a:pPr algn="just"/>
            <a:endParaRPr lang="en-US" altLang="en-GB" dirty="0">
              <a:latin typeface="Times New Roman" panose="02020603050405020304" pitchFamily="18" charset="0"/>
              <a:cs typeface="Times New Roman" panose="02020603050405020304" pitchFamily="18" charset="0"/>
            </a:endParaRPr>
          </a:p>
          <a:p>
            <a:pPr algn="just"/>
            <a:r>
              <a:rPr lang="en-US" altLang="en-GB" b="1" dirty="0">
                <a:latin typeface="Times New Roman" panose="02020603050405020304" pitchFamily="18" charset="0"/>
                <a:cs typeface="Times New Roman" panose="02020603050405020304" pitchFamily="18" charset="0"/>
              </a:rPr>
              <a:t>Advantages</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Produces high-quality abstractive summaries.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Utilizes transfer learning, reducing training requirements.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Provides strong contextual understanding for summarization.</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Generates concise and human-like summaries.</a:t>
            </a:r>
            <a:endParaRPr lang="en-US" altLang="en-GB" dirty="0">
              <a:latin typeface="Times New Roman" panose="02020603050405020304" pitchFamily="18" charset="0"/>
              <a:cs typeface="Times New Roman" panose="02020603050405020304" pitchFamily="18" charset="0"/>
            </a:endParaRPr>
          </a:p>
          <a:p>
            <a:pPr algn="just"/>
            <a:endParaRPr lang="en-US" altLang="en-GB" dirty="0">
              <a:latin typeface="Times New Roman" panose="02020603050405020304" pitchFamily="18" charset="0"/>
              <a:cs typeface="Times New Roman" panose="02020603050405020304" pitchFamily="18" charset="0"/>
            </a:endParaRPr>
          </a:p>
          <a:p>
            <a:pPr algn="just"/>
            <a:r>
              <a:rPr lang="en-US" altLang="en-GB" b="1" dirty="0">
                <a:latin typeface="Times New Roman" panose="02020603050405020304" pitchFamily="18" charset="0"/>
                <a:cs typeface="Times New Roman" panose="02020603050405020304" pitchFamily="18" charset="0"/>
              </a:rPr>
              <a:t>Limitations</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Requires high computational resources such as GPU/TPU.</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Fine-tuning can be time-consuming.</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Performance depends heavily on dataset quality.</a:t>
            </a:r>
            <a:endParaRPr lang="en-US" altLang="en-GB" dirty="0">
              <a:latin typeface="Times New Roman" panose="02020603050405020304" pitchFamily="18" charset="0"/>
              <a:cs typeface="Times New Roman" panose="02020603050405020304" pitchFamily="18" charset="0"/>
            </a:endParaRPr>
          </a:p>
        </p:txBody>
      </p:sp>
      <p:sp>
        <p:nvSpPr>
          <p:cNvPr id="12" name="Rectangle 11"/>
          <p:cNvSpPr/>
          <p:nvPr/>
        </p:nvSpPr>
        <p:spPr>
          <a:xfrm>
            <a:off x="8558784" y="1249898"/>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accent2"/>
                </a:solidFill>
                <a:latin typeface="Times New Roman" panose="02020603050405020304" pitchFamily="18" charset="0"/>
                <a:cs typeface="Times New Roman" panose="02020603050405020304" pitchFamily="18" charset="0"/>
              </a:rPr>
              <a:t>Preprocessed</a:t>
            </a:r>
            <a:r>
              <a:rPr lang="en-IN" b="1" dirty="0">
                <a:solidFill>
                  <a:schemeClr val="accent2"/>
                </a:solidFill>
                <a:latin typeface="Times New Roman" panose="02020603050405020304" pitchFamily="18" charset="0"/>
                <a:cs typeface="Times New Roman" panose="02020603050405020304" pitchFamily="18" charset="0"/>
              </a:rPr>
              <a:t> Text</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8597217" y="2310546"/>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latin typeface="Times New Roman" panose="02020603050405020304" pitchFamily="18" charset="0"/>
                <a:cs typeface="Times New Roman" panose="02020603050405020304" pitchFamily="18" charset="0"/>
              </a:rPr>
              <a:t>T5 Encoder</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8641080" y="3429000"/>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latin typeface="Times New Roman" panose="02020603050405020304" pitchFamily="18" charset="0"/>
                <a:cs typeface="Times New Roman" panose="02020603050405020304" pitchFamily="18" charset="0"/>
              </a:rPr>
              <a:t>Attention Mechanism</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15" name="Rectangle 14"/>
          <p:cNvSpPr/>
          <p:nvPr/>
        </p:nvSpPr>
        <p:spPr>
          <a:xfrm>
            <a:off x="8711184" y="4590327"/>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latin typeface="Times New Roman" panose="02020603050405020304" pitchFamily="18" charset="0"/>
                <a:cs typeface="Times New Roman" panose="02020603050405020304" pitchFamily="18" charset="0"/>
              </a:rPr>
              <a:t>T5 Decoder</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16" name="Rectangle 15"/>
          <p:cNvSpPr/>
          <p:nvPr/>
        </p:nvSpPr>
        <p:spPr>
          <a:xfrm>
            <a:off x="8687467" y="5897897"/>
            <a:ext cx="2106835" cy="83210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latin typeface="Times New Roman" panose="02020603050405020304" pitchFamily="18" charset="0"/>
                <a:cs typeface="Times New Roman" panose="02020603050405020304" pitchFamily="18" charset="0"/>
              </a:rPr>
              <a:t>Generated Summary</a:t>
            </a:r>
            <a:endParaRPr lang="en-IN" b="1" dirty="0">
              <a:solidFill>
                <a:schemeClr val="accent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86549"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994708" y="281962"/>
            <a:ext cx="9838944" cy="1014730"/>
          </a:xfrm>
          <a:prstGeom prst="rect">
            <a:avLst/>
          </a:prstGeom>
          <a:noFill/>
        </p:spPr>
        <p:txBody>
          <a:bodyPr wrap="square">
            <a:spAutoFit/>
          </a:bodyPr>
          <a:lstStyle/>
          <a:p>
            <a:pPr algn="ctr"/>
            <a:r>
              <a:rPr lang="en-US" altLang="en-GB" sz="3000" b="1" dirty="0">
                <a:latin typeface="Times New Roman" panose="02020603050405020304" pitchFamily="18" charset="0"/>
                <a:cs typeface="Times New Roman" panose="02020603050405020304" pitchFamily="18" charset="0"/>
              </a:rPr>
              <a:t>Module 3: Performance Evaluation, Web Integration &amp; Visualization</a:t>
            </a:r>
            <a:endParaRPr lang="en-US" altLang="en-GB" sz="30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71450" y="1494790"/>
            <a:ext cx="7465060" cy="5354320"/>
          </a:xfrm>
          <a:prstGeom prst="rect">
            <a:avLst/>
          </a:prstGeom>
          <a:noFill/>
        </p:spPr>
        <p:txBody>
          <a:bodyPr wrap="square">
            <a:spAutoFit/>
          </a:bodyPr>
          <a:lstStyle/>
          <a:p>
            <a:pPr algn="just"/>
            <a:r>
              <a:rPr lang="en-US" altLang="en-GB" b="1" dirty="0">
                <a:latin typeface="Times New Roman" panose="02020603050405020304" pitchFamily="18" charset="0"/>
                <a:cs typeface="Times New Roman" panose="02020603050405020304" pitchFamily="18" charset="0"/>
              </a:rPr>
              <a:t>Description</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Generate summaries using the trained T5 model.</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Compare generated summaries with reference summaries.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Evaluate model performance using ROUGE-1, ROUGE-2, and ROUGE-L metrics.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Analyze summary quality and identify areas for performance improvement.</a:t>
            </a:r>
            <a:endParaRPr lang="en-US" altLang="en-GB" dirty="0">
              <a:latin typeface="Times New Roman" panose="02020603050405020304" pitchFamily="18" charset="0"/>
              <a:cs typeface="Times New Roman" panose="02020603050405020304" pitchFamily="18" charset="0"/>
            </a:endParaRPr>
          </a:p>
          <a:p>
            <a:pPr algn="just"/>
            <a:endParaRPr lang="en-US" altLang="en-GB" dirty="0">
              <a:latin typeface="Times New Roman" panose="02020603050405020304" pitchFamily="18" charset="0"/>
              <a:cs typeface="Times New Roman" panose="02020603050405020304" pitchFamily="18" charset="0"/>
            </a:endParaRPr>
          </a:p>
          <a:p>
            <a:pPr algn="just"/>
            <a:r>
              <a:rPr lang="en-US" altLang="en-GB" b="1" dirty="0">
                <a:latin typeface="Times New Roman" panose="02020603050405020304" pitchFamily="18" charset="0"/>
                <a:cs typeface="Times New Roman" panose="02020603050405020304" pitchFamily="18" charset="0"/>
              </a:rPr>
              <a:t>Advantages</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Provides objective evaluation of summarization quality.</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Measures performance using standard NLP evaluation metrics.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Helps identify the strengths and weaknesses of the model.</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Supports further performance optimization.</a:t>
            </a:r>
            <a:endParaRPr lang="en-US" altLang="en-GB" dirty="0">
              <a:latin typeface="Times New Roman" panose="02020603050405020304" pitchFamily="18" charset="0"/>
              <a:cs typeface="Times New Roman" panose="02020603050405020304" pitchFamily="18" charset="0"/>
            </a:endParaRPr>
          </a:p>
          <a:p>
            <a:pPr algn="just"/>
            <a:endParaRPr lang="en-US" altLang="en-GB" dirty="0">
              <a:latin typeface="Times New Roman" panose="02020603050405020304" pitchFamily="18" charset="0"/>
              <a:cs typeface="Times New Roman" panose="02020603050405020304" pitchFamily="18" charset="0"/>
            </a:endParaRPr>
          </a:p>
          <a:p>
            <a:pPr algn="just"/>
            <a:r>
              <a:rPr lang="en-US" altLang="en-GB" b="1" dirty="0">
                <a:latin typeface="Times New Roman" panose="02020603050405020304" pitchFamily="18" charset="0"/>
                <a:cs typeface="Times New Roman" panose="02020603050405020304" pitchFamily="18" charset="0"/>
              </a:rPr>
              <a:t>Limitations</a:t>
            </a:r>
            <a:endParaRPr lang="en-US" altLang="en-GB"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ROUGE focuses mainly on word overlap rather than complete semantic meaning.</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Different evaluation metrics may produce varying results.</a:t>
            </a:r>
            <a:endParaRPr lang="en-US" alt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Human evaluation is still required for a complete assessment of summary quality.</a:t>
            </a:r>
            <a:endParaRPr lang="en-US" altLang="en-GB"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7636510" y="1788160"/>
            <a:ext cx="4086225" cy="47472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86549"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2496312" y="459527"/>
            <a:ext cx="9198864" cy="553998"/>
          </a:xfrm>
          <a:prstGeom prst="rect">
            <a:avLst/>
          </a:prstGeom>
          <a:noFill/>
        </p:spPr>
        <p:txBody>
          <a:bodyPr wrap="square">
            <a:spAutoFit/>
          </a:bodyPr>
          <a:lstStyle/>
          <a:p>
            <a:r>
              <a:rPr lang="en-US" sz="3000" b="1" dirty="0">
                <a:latin typeface="Times New Roman" panose="02020603050405020304" pitchFamily="18" charset="0"/>
                <a:cs typeface="Times New Roman" panose="02020603050405020304" pitchFamily="18" charset="0"/>
              </a:rPr>
              <a:t>Description About The Datasets Used </a:t>
            </a:r>
            <a:endParaRPr lang="en-IN" sz="30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76072" y="1632311"/>
            <a:ext cx="10488168" cy="5077460"/>
          </a:xfrm>
          <a:prstGeom prst="rect">
            <a:avLst/>
          </a:prstGeom>
          <a:noFill/>
        </p:spPr>
        <p:txBody>
          <a:bodyPr wrap="square">
            <a:spAutoFit/>
          </a:bodyPr>
          <a:lstStyle/>
          <a:p>
            <a:pPr algn="just">
              <a:lnSpc>
                <a:spcPct val="150000"/>
              </a:lnSpc>
            </a:pPr>
            <a:r>
              <a:rPr lang="en-US" altLang="en-GB" b="1" dirty="0">
                <a:latin typeface="Times New Roman" panose="02020603050405020304" pitchFamily="18" charset="0"/>
                <a:cs typeface="Times New Roman" panose="02020603050405020304" pitchFamily="18" charset="0"/>
              </a:rPr>
              <a:t>Link to Dataset</a:t>
            </a:r>
            <a:endParaRPr lang="en-US" altLang="en-GB" b="1"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a:t>
            </a:r>
            <a:r>
              <a:rPr lang="en-US" altLang="en-GB" dirty="0">
                <a:latin typeface="Times New Roman" panose="02020603050405020304" pitchFamily="18" charset="0"/>
                <a:cs typeface="Times New Roman" panose="02020603050405020304" pitchFamily="18" charset="0"/>
              </a:rPr>
              <a:t> MLSUM Multilingual Summarization Dataset – Kaggle</a:t>
            </a:r>
            <a:endParaRPr lang="en-US" altLang="en-GB" dirty="0">
              <a:latin typeface="Times New Roman" panose="02020603050405020304" pitchFamily="18" charset="0"/>
              <a:cs typeface="Times New Roman" panose="02020603050405020304" pitchFamily="18" charset="0"/>
            </a:endParaRPr>
          </a:p>
          <a:p>
            <a:pPr algn="just">
              <a:lnSpc>
                <a:spcPct val="150000"/>
              </a:lnSpc>
            </a:pPr>
            <a:endParaRPr lang="en-US" altLang="en-GB" dirty="0">
              <a:latin typeface="Times New Roman" panose="02020603050405020304" pitchFamily="18" charset="0"/>
              <a:cs typeface="Times New Roman" panose="02020603050405020304" pitchFamily="18" charset="0"/>
            </a:endParaRPr>
          </a:p>
          <a:p>
            <a:pPr algn="just">
              <a:lnSpc>
                <a:spcPct val="150000"/>
              </a:lnSpc>
            </a:pPr>
            <a:r>
              <a:rPr lang="en-US" altLang="en-GB" dirty="0">
                <a:latin typeface="Times New Roman" panose="02020603050405020304" pitchFamily="18" charset="0"/>
                <a:cs typeface="Times New Roman" panose="02020603050405020304" pitchFamily="18" charset="0"/>
              </a:rPr>
              <a:t>The MLSUM (Multilingual Summarization Dataset) is a large multilingual news summarization dataset created from online newspapers. It contains more than 1.5 million article–summary pairs across multiple languages, making it suitable for training and evaluating automated text summarization models.</a:t>
            </a:r>
            <a:endParaRPr lang="en-US" altLang="en-GB" dirty="0">
              <a:latin typeface="Times New Roman" panose="02020603050405020304" pitchFamily="18" charset="0"/>
              <a:cs typeface="Times New Roman" panose="02020603050405020304" pitchFamily="18" charset="0"/>
            </a:endParaRPr>
          </a:p>
          <a:p>
            <a:pPr algn="just">
              <a:lnSpc>
                <a:spcPct val="150000"/>
              </a:lnSpc>
            </a:pPr>
            <a:endParaRPr lang="en-US" altLang="en-GB" dirty="0">
              <a:latin typeface="Times New Roman" panose="02020603050405020304" pitchFamily="18" charset="0"/>
              <a:cs typeface="Times New Roman" panose="02020603050405020304" pitchFamily="18" charset="0"/>
            </a:endParaRPr>
          </a:p>
          <a:p>
            <a:pPr algn="just">
              <a:lnSpc>
                <a:spcPct val="150000"/>
              </a:lnSpc>
            </a:pPr>
            <a:r>
              <a:rPr lang="en-US" altLang="en-GB" b="1" dirty="0">
                <a:latin typeface="Times New Roman" panose="02020603050405020304" pitchFamily="18" charset="0"/>
                <a:cs typeface="Times New Roman" panose="02020603050405020304" pitchFamily="18" charset="0"/>
              </a:rPr>
              <a:t>Key Points</a:t>
            </a:r>
            <a:endParaRPr lang="en-US" altLang="en-GB"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Includes news articles with human-written summaries.</a:t>
            </a:r>
            <a:endParaRPr lang="en-US" altLang="en-GB"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Covers five major languages: French, German, Spanish, Russian, and Turkish.</a:t>
            </a:r>
            <a:endParaRPr lang="en-US" altLang="en-GB"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Designed for multilingual NLP research, particularly abstractive summarization.</a:t>
            </a:r>
            <a:endParaRPr lang="en-US" altLang="en-GB"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GB" dirty="0">
                <a:latin typeface="Times New Roman" panose="02020603050405020304" pitchFamily="18" charset="0"/>
                <a:cs typeface="Times New Roman" panose="02020603050405020304" pitchFamily="18" charset="0"/>
              </a:rPr>
              <a:t>Organized into training, validation, and testing splits for model development and evaluation.</a:t>
            </a:r>
            <a:endParaRPr lang="en-US" altLang="en-GB"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86549"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3805382" y="558862"/>
            <a:ext cx="6096000" cy="553998"/>
          </a:xfrm>
          <a:prstGeom prst="rect">
            <a:avLst/>
          </a:prstGeom>
          <a:noFill/>
        </p:spPr>
        <p:txBody>
          <a:bodyPr wrap="square">
            <a:spAutoFit/>
          </a:bodyPr>
          <a:lstStyle/>
          <a:p>
            <a:pPr algn="l">
              <a:spcAft>
                <a:spcPts val="300"/>
              </a:spcAft>
              <a:buNone/>
            </a:pPr>
            <a:r>
              <a:rPr lang="en-IN" sz="3000" b="1" i="0" dirty="0">
                <a:solidFill>
                  <a:srgbClr val="0D0D0D"/>
                </a:solidFill>
                <a:effectLst/>
                <a:latin typeface="Times New Roman" panose="02020603050405020304" pitchFamily="18" charset="0"/>
                <a:cs typeface="Times New Roman" panose="02020603050405020304" pitchFamily="18" charset="0"/>
              </a:rPr>
              <a:t>Applications of the Research</a:t>
            </a:r>
            <a:endParaRPr lang="en-IN" sz="3000" b="1" i="0" dirty="0">
              <a:solidFill>
                <a:srgbClr val="0D0D0D"/>
              </a:solidFill>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868219" y="1686080"/>
            <a:ext cx="9984509" cy="4613058"/>
          </a:xfrm>
          <a:prstGeom prst="rect">
            <a:avLst/>
          </a:prstGeom>
          <a:noFill/>
        </p:spPr>
        <p:txBody>
          <a:bodyPr wrap="square">
            <a:spAutoFit/>
          </a:bodyPr>
          <a:lstStyle/>
          <a:p>
            <a:pPr algn="just">
              <a:lnSpc>
                <a:spcPct val="150000"/>
              </a:lnSpc>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Automatic News Summarization:</a:t>
            </a:r>
            <a:r>
              <a:rPr lang="en-US" b="0" i="0" dirty="0">
                <a:solidFill>
                  <a:srgbClr val="0D0D0D"/>
                </a:solidFill>
                <a:effectLst/>
                <a:latin typeface="Times New Roman" panose="02020603050405020304" pitchFamily="18" charset="0"/>
                <a:cs typeface="Times New Roman" panose="02020603050405020304" pitchFamily="18" charset="0"/>
              </a:rPr>
              <a:t> Quickly generate concise summaries of multilingual news articles for faster information consumption.</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Information Retrieval Systems:</a:t>
            </a:r>
            <a:r>
              <a:rPr lang="en-US" b="0" i="0" dirty="0">
                <a:solidFill>
                  <a:srgbClr val="0D0D0D"/>
                </a:solidFill>
                <a:effectLst/>
                <a:latin typeface="Times New Roman" panose="02020603050405020304" pitchFamily="18" charset="0"/>
                <a:cs typeface="Times New Roman" panose="02020603050405020304" pitchFamily="18" charset="0"/>
              </a:rPr>
              <a:t> Improve search engines and digital libraries by providing brief, relevant content summaries.</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Media Monitoring &amp; Analysis:</a:t>
            </a:r>
            <a:r>
              <a:rPr lang="en-US" b="0" i="0" dirty="0">
                <a:solidFill>
                  <a:srgbClr val="0D0D0D"/>
                </a:solidFill>
                <a:effectLst/>
                <a:latin typeface="Times New Roman" panose="02020603050405020304" pitchFamily="18" charset="0"/>
                <a:cs typeface="Times New Roman" panose="02020603050405020304" pitchFamily="18" charset="0"/>
              </a:rPr>
              <a:t> Assist journalists and analysts in tracking trends and key events across multiple languages.</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Educational Platforms:</a:t>
            </a:r>
            <a:r>
              <a:rPr lang="en-US" b="0" i="0" dirty="0">
                <a:solidFill>
                  <a:srgbClr val="0D0D0D"/>
                </a:solidFill>
                <a:effectLst/>
                <a:latin typeface="Times New Roman" panose="02020603050405020304" pitchFamily="18" charset="0"/>
                <a:cs typeface="Times New Roman" panose="02020603050405020304" pitchFamily="18" charset="0"/>
              </a:rPr>
              <a:t> Help students and researchers understand lengthy documents efficiently.</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Business Intelligence:</a:t>
            </a:r>
            <a:r>
              <a:rPr lang="en-US" b="0" i="0" dirty="0">
                <a:solidFill>
                  <a:srgbClr val="0D0D0D"/>
                </a:solidFill>
                <a:effectLst/>
                <a:latin typeface="Times New Roman" panose="02020603050405020304" pitchFamily="18" charset="0"/>
                <a:cs typeface="Times New Roman" panose="02020603050405020304" pitchFamily="18" charset="0"/>
              </a:rPr>
              <a:t> Enable organizations to analyze large volumes of multilingual textual data for decision-making.</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Cross-Lingual Communication:</a:t>
            </a:r>
            <a:r>
              <a:rPr lang="en-US" b="0" i="0" dirty="0">
                <a:solidFill>
                  <a:srgbClr val="0D0D0D"/>
                </a:solidFill>
                <a:effectLst/>
                <a:latin typeface="Times New Roman" panose="02020603050405020304" pitchFamily="18" charset="0"/>
                <a:cs typeface="Times New Roman" panose="02020603050405020304" pitchFamily="18" charset="0"/>
              </a:rPr>
              <a:t> Support summarization in different languages, enhancing global accessibility of information.</a:t>
            </a:r>
            <a:endParaRPr lang="en-US" b="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86549"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3805382" y="558862"/>
            <a:ext cx="6096000" cy="553998"/>
          </a:xfrm>
          <a:prstGeom prst="rect">
            <a:avLst/>
          </a:prstGeom>
          <a:noFill/>
        </p:spPr>
        <p:txBody>
          <a:bodyPr wrap="square">
            <a:spAutoFit/>
          </a:bodyPr>
          <a:lstStyle/>
          <a:p>
            <a:pPr>
              <a:spcAft>
                <a:spcPts val="300"/>
              </a:spcAft>
            </a:pPr>
            <a:r>
              <a:rPr lang="en-IN" sz="3000" b="1" dirty="0">
                <a:solidFill>
                  <a:srgbClr val="0D0D0D"/>
                </a:solidFill>
                <a:latin typeface="Times New Roman" panose="02020603050405020304" pitchFamily="18" charset="0"/>
                <a:cs typeface="Times New Roman" panose="02020603050405020304" pitchFamily="18" charset="0"/>
              </a:rPr>
              <a:t>Comparison &amp; Analysis</a:t>
            </a:r>
            <a:endParaRPr lang="en-IN" sz="3000" b="1" dirty="0">
              <a:solidFill>
                <a:srgbClr val="0D0D0D"/>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1221667" y="1864975"/>
          <a:ext cx="9843498" cy="3843096"/>
        </p:xfrm>
        <a:graphic>
          <a:graphicData uri="http://schemas.openxmlformats.org/drawingml/2006/table">
            <a:tbl>
              <a:tblPr firstRow="1" bandRow="1">
                <a:tableStyleId>{073A0DAA-6AF3-43AB-8588-CEC1D06C72B9}</a:tableStyleId>
              </a:tblPr>
              <a:tblGrid>
                <a:gridCol w="3281166"/>
                <a:gridCol w="3281166"/>
                <a:gridCol w="3281166"/>
              </a:tblGrid>
              <a:tr h="640516">
                <a:tc>
                  <a:txBody>
                    <a:bodyPr/>
                    <a:lstStyle/>
                    <a:p>
                      <a:pPr>
                        <a:buNone/>
                      </a:pPr>
                      <a:r>
                        <a:rPr lang="en-IN" b="1">
                          <a:latin typeface="Times New Roman" panose="02020603050405020304" pitchFamily="18" charset="0"/>
                          <a:cs typeface="Times New Roman" panose="02020603050405020304" pitchFamily="18" charset="0"/>
                        </a:rPr>
                        <a:t>Aspect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Traditional Methods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T5 Model</a:t>
                      </a:r>
                      <a:endParaRPr lang="en-IN">
                        <a:latin typeface="Times New Roman" panose="02020603050405020304" pitchFamily="18" charset="0"/>
                        <a:cs typeface="Times New Roman" panose="02020603050405020304" pitchFamily="18" charset="0"/>
                      </a:endParaRPr>
                    </a:p>
                  </a:txBody>
                  <a:tcPr anchor="ctr"/>
                </a:tc>
              </a:tr>
              <a:tr h="640516">
                <a:tc>
                  <a:txBody>
                    <a:bodyPr/>
                    <a:lstStyle/>
                    <a:p>
                      <a:pPr>
                        <a:buNone/>
                      </a:pPr>
                      <a:r>
                        <a:rPr lang="en-IN">
                          <a:latin typeface="Times New Roman" panose="02020603050405020304" pitchFamily="18" charset="0"/>
                          <a:cs typeface="Times New Roman" panose="02020603050405020304" pitchFamily="18" charset="0"/>
                        </a:rPr>
                        <a:t>Approach</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Extractive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Abstractive</a:t>
                      </a:r>
                      <a:endParaRPr lang="en-IN">
                        <a:latin typeface="Times New Roman" panose="02020603050405020304" pitchFamily="18" charset="0"/>
                        <a:cs typeface="Times New Roman" panose="02020603050405020304" pitchFamily="18" charset="0"/>
                      </a:endParaRPr>
                    </a:p>
                  </a:txBody>
                  <a:tcPr anchor="ctr"/>
                </a:tc>
              </a:tr>
              <a:tr h="640516">
                <a:tc>
                  <a:txBody>
                    <a:bodyPr/>
                    <a:lstStyle/>
                    <a:p>
                      <a:pPr>
                        <a:buNone/>
                      </a:pPr>
                      <a:r>
                        <a:rPr lang="en-IN">
                          <a:latin typeface="Times New Roman" panose="02020603050405020304" pitchFamily="18" charset="0"/>
                          <a:cs typeface="Times New Roman" panose="02020603050405020304" pitchFamily="18" charset="0"/>
                        </a:rPr>
                        <a:t>Language Support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Single language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Multilingual</a:t>
                      </a:r>
                      <a:endParaRPr lang="en-IN">
                        <a:latin typeface="Times New Roman" panose="02020603050405020304" pitchFamily="18" charset="0"/>
                        <a:cs typeface="Times New Roman" panose="02020603050405020304" pitchFamily="18" charset="0"/>
                      </a:endParaRPr>
                    </a:p>
                  </a:txBody>
                  <a:tcPr anchor="ctr"/>
                </a:tc>
              </a:tr>
              <a:tr h="640516">
                <a:tc>
                  <a:txBody>
                    <a:bodyPr/>
                    <a:lstStyle/>
                    <a:p>
                      <a:pPr>
                        <a:buNone/>
                      </a:pPr>
                      <a:r>
                        <a:rPr lang="en-IN">
                          <a:latin typeface="Times New Roman" panose="02020603050405020304" pitchFamily="18" charset="0"/>
                          <a:cs typeface="Times New Roman" panose="02020603050405020304" pitchFamily="18" charset="0"/>
                        </a:rPr>
                        <a:t>Context Understanding</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Limited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Strong (Transformer-based)</a:t>
                      </a:r>
                      <a:endParaRPr lang="en-IN">
                        <a:latin typeface="Times New Roman" panose="02020603050405020304" pitchFamily="18" charset="0"/>
                        <a:cs typeface="Times New Roman" panose="02020603050405020304" pitchFamily="18" charset="0"/>
                      </a:endParaRPr>
                    </a:p>
                  </a:txBody>
                  <a:tcPr anchor="ctr"/>
                </a:tc>
              </a:tr>
              <a:tr h="640516">
                <a:tc>
                  <a:txBody>
                    <a:bodyPr/>
                    <a:lstStyle/>
                    <a:p>
                      <a:pPr>
                        <a:buNone/>
                      </a:pPr>
                      <a:r>
                        <a:rPr lang="en-IN">
                          <a:latin typeface="Times New Roman" panose="02020603050405020304" pitchFamily="18" charset="0"/>
                          <a:cs typeface="Times New Roman" panose="02020603050405020304" pitchFamily="18" charset="0"/>
                        </a:rPr>
                        <a:t>Summary Quality</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Less fluent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More coherent &amp; natural</a:t>
                      </a:r>
                      <a:endParaRPr lang="en-IN">
                        <a:latin typeface="Times New Roman" panose="02020603050405020304" pitchFamily="18" charset="0"/>
                        <a:cs typeface="Times New Roman" panose="02020603050405020304" pitchFamily="18" charset="0"/>
                      </a:endParaRPr>
                    </a:p>
                  </a:txBody>
                  <a:tcPr anchor="ctr"/>
                </a:tc>
              </a:tr>
              <a:tr h="640516">
                <a:tc>
                  <a:txBody>
                    <a:bodyPr/>
                    <a:lstStyle/>
                    <a:p>
                      <a:pPr>
                        <a:buNone/>
                      </a:pPr>
                      <a:r>
                        <a:rPr lang="en-IN">
                          <a:latin typeface="Times New Roman" panose="02020603050405020304" pitchFamily="18" charset="0"/>
                          <a:cs typeface="Times New Roman" panose="02020603050405020304" pitchFamily="18" charset="0"/>
                        </a:rPr>
                        <a:t>Scalability</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Low</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High</a:t>
                      </a:r>
                      <a:endParaRPr lang="en-IN"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86549"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4341090" y="533417"/>
            <a:ext cx="6096000" cy="553998"/>
          </a:xfrm>
          <a:prstGeom prst="rect">
            <a:avLst/>
          </a:prstGeom>
          <a:noFill/>
        </p:spPr>
        <p:txBody>
          <a:bodyPr wrap="square">
            <a:spAutoFit/>
          </a:bodyPr>
          <a:lstStyle/>
          <a:p>
            <a:pPr>
              <a:spcAft>
                <a:spcPts val="300"/>
              </a:spcAft>
            </a:pPr>
            <a:r>
              <a:rPr lang="en-IN" sz="3000" b="1" dirty="0">
                <a:solidFill>
                  <a:srgbClr val="0D0D0D"/>
                </a:solidFill>
                <a:latin typeface="Times New Roman" panose="02020603050405020304" pitchFamily="18" charset="0"/>
                <a:cs typeface="Times New Roman" panose="02020603050405020304" pitchFamily="18" charset="0"/>
              </a:rPr>
              <a:t>Conclusion</a:t>
            </a:r>
            <a:endParaRPr lang="en-IN" sz="3000" b="1" dirty="0">
              <a:solidFill>
                <a:srgbClr val="0D0D0D"/>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972820" y="1473835"/>
            <a:ext cx="9464040" cy="3969385"/>
          </a:xfrm>
          <a:prstGeom prst="rect">
            <a:avLst/>
          </a:prstGeom>
          <a:noFill/>
        </p:spPr>
        <p:txBody>
          <a:bodyPr wrap="square">
            <a:spAutoFit/>
          </a:bodyPr>
          <a:lstStyle/>
          <a:p>
            <a:pPr algn="just">
              <a:lnSpc>
                <a:spcPct val="150000"/>
              </a:lnSpc>
              <a:buFont typeface="Arial" panose="020B0604020202020204" pitchFamily="34" charset="0"/>
              <a:buChar char="•"/>
            </a:pPr>
            <a:r>
              <a:rPr lang="en-IN" sz="2400" b="0" i="0" dirty="0">
                <a:solidFill>
                  <a:srgbClr val="0D0D0D"/>
                </a:solidFill>
                <a:effectLst/>
                <a:latin typeface="Times New Roman" panose="02020603050405020304" pitchFamily="18" charset="0"/>
                <a:cs typeface="Times New Roman" panose="02020603050405020304" pitchFamily="18" charset="0"/>
              </a:rPr>
              <a:t>Implemented a </a:t>
            </a:r>
            <a:r>
              <a:rPr lang="en-IN" sz="2400" b="1" i="0" dirty="0">
                <a:solidFill>
                  <a:srgbClr val="0D0D0D"/>
                </a:solidFill>
                <a:effectLst/>
                <a:latin typeface="Times New Roman" panose="02020603050405020304" pitchFamily="18" charset="0"/>
                <a:cs typeface="Times New Roman" panose="02020603050405020304" pitchFamily="18" charset="0"/>
              </a:rPr>
              <a:t>Transformer-based T5 model</a:t>
            </a:r>
            <a:r>
              <a:rPr lang="en-IN" sz="2400" b="0" i="0" dirty="0">
                <a:solidFill>
                  <a:srgbClr val="0D0D0D"/>
                </a:solidFill>
                <a:effectLst/>
                <a:latin typeface="Times New Roman" panose="02020603050405020304" pitchFamily="18" charset="0"/>
                <a:cs typeface="Times New Roman" panose="02020603050405020304" pitchFamily="18" charset="0"/>
              </a:rPr>
              <a:t> for multilingual text summarization</a:t>
            </a:r>
            <a:endParaRPr lang="en-IN" sz="2400"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sz="2400" b="0" i="0" dirty="0">
                <a:solidFill>
                  <a:srgbClr val="0D0D0D"/>
                </a:solidFill>
                <a:effectLst/>
                <a:latin typeface="Times New Roman" panose="02020603050405020304" pitchFamily="18" charset="0"/>
                <a:cs typeface="Times New Roman" panose="02020603050405020304" pitchFamily="18" charset="0"/>
              </a:rPr>
              <a:t>Utilized the </a:t>
            </a:r>
            <a:r>
              <a:rPr lang="en-IN" sz="2400" b="1" i="0" dirty="0">
                <a:solidFill>
                  <a:srgbClr val="0D0D0D"/>
                </a:solidFill>
                <a:effectLst/>
                <a:latin typeface="Times New Roman" panose="02020603050405020304" pitchFamily="18" charset="0"/>
                <a:cs typeface="Times New Roman" panose="02020603050405020304" pitchFamily="18" charset="0"/>
              </a:rPr>
              <a:t>MLSAM multilingual news dataset</a:t>
            </a:r>
            <a:endParaRPr lang="en-IN" sz="2400"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sz="2400" b="0" i="0" dirty="0">
                <a:solidFill>
                  <a:srgbClr val="0D0D0D"/>
                </a:solidFill>
                <a:effectLst/>
                <a:latin typeface="Times New Roman" panose="02020603050405020304" pitchFamily="18" charset="0"/>
                <a:cs typeface="Times New Roman" panose="02020603050405020304" pitchFamily="18" charset="0"/>
              </a:rPr>
              <a:t>Generated </a:t>
            </a:r>
            <a:r>
              <a:rPr lang="en-IN" sz="2400" b="1" i="0" dirty="0">
                <a:solidFill>
                  <a:srgbClr val="0D0D0D"/>
                </a:solidFill>
                <a:effectLst/>
                <a:latin typeface="Times New Roman" panose="02020603050405020304" pitchFamily="18" charset="0"/>
                <a:cs typeface="Times New Roman" panose="02020603050405020304" pitchFamily="18" charset="0"/>
              </a:rPr>
              <a:t>concise and coherent abstractive summaries</a:t>
            </a:r>
            <a:endParaRPr lang="en-IN" sz="2400"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sz="2400" b="0" i="0" dirty="0">
                <a:solidFill>
                  <a:srgbClr val="0D0D0D"/>
                </a:solidFill>
                <a:effectLst/>
                <a:latin typeface="Times New Roman" panose="02020603050405020304" pitchFamily="18" charset="0"/>
                <a:cs typeface="Times New Roman" panose="02020603050405020304" pitchFamily="18" charset="0"/>
              </a:rPr>
              <a:t>Achieved better performance than </a:t>
            </a:r>
            <a:r>
              <a:rPr lang="en-IN" sz="2400" b="1" i="0" dirty="0">
                <a:solidFill>
                  <a:srgbClr val="0D0D0D"/>
                </a:solidFill>
                <a:effectLst/>
                <a:latin typeface="Times New Roman" panose="02020603050405020304" pitchFamily="18" charset="0"/>
                <a:cs typeface="Times New Roman" panose="02020603050405020304" pitchFamily="18" charset="0"/>
              </a:rPr>
              <a:t>traditional summarization methods</a:t>
            </a:r>
            <a:endParaRPr lang="en-IN" sz="2400"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sz="2400" b="0" i="0" dirty="0">
                <a:solidFill>
                  <a:srgbClr val="0D0D0D"/>
                </a:solidFill>
                <a:effectLst/>
                <a:latin typeface="Times New Roman" panose="02020603050405020304" pitchFamily="18" charset="0"/>
                <a:cs typeface="Times New Roman" panose="02020603050405020304" pitchFamily="18" charset="0"/>
              </a:rPr>
              <a:t>Demonstrated effectiveness of </a:t>
            </a:r>
            <a:r>
              <a:rPr lang="en-IN" sz="2400" b="1" i="0" dirty="0">
                <a:solidFill>
                  <a:srgbClr val="0D0D0D"/>
                </a:solidFill>
                <a:effectLst/>
                <a:latin typeface="Times New Roman" panose="02020603050405020304" pitchFamily="18" charset="0"/>
                <a:cs typeface="Times New Roman" panose="02020603050405020304" pitchFamily="18" charset="0"/>
              </a:rPr>
              <a:t>pretrained multilingual models</a:t>
            </a:r>
            <a:endParaRPr lang="en-IN" sz="2400"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sz="2400" b="0" i="0" dirty="0">
                <a:solidFill>
                  <a:srgbClr val="0D0D0D"/>
                </a:solidFill>
                <a:effectLst/>
                <a:latin typeface="Times New Roman" panose="02020603050405020304" pitchFamily="18" charset="0"/>
                <a:cs typeface="Times New Roman" panose="02020603050405020304" pitchFamily="18" charset="0"/>
              </a:rPr>
              <a:t>Suitable for real-world </a:t>
            </a:r>
            <a:r>
              <a:rPr lang="en-IN" sz="2400" b="1" i="0" dirty="0">
                <a:solidFill>
                  <a:srgbClr val="0D0D0D"/>
                </a:solidFill>
                <a:effectLst/>
                <a:latin typeface="Times New Roman" panose="02020603050405020304" pitchFamily="18" charset="0"/>
                <a:cs typeface="Times New Roman" panose="02020603050405020304" pitchFamily="18" charset="0"/>
              </a:rPr>
              <a:t>multilingual NLP applications</a:t>
            </a:r>
            <a:endParaRPr lang="en-IN" sz="2400" b="1"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86549"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3805382" y="558862"/>
            <a:ext cx="6096000" cy="553998"/>
          </a:xfrm>
          <a:prstGeom prst="rect">
            <a:avLst/>
          </a:prstGeom>
          <a:noFill/>
        </p:spPr>
        <p:txBody>
          <a:bodyPr wrap="square">
            <a:spAutoFit/>
          </a:bodyPr>
          <a:lstStyle/>
          <a:p>
            <a:pPr>
              <a:spcAft>
                <a:spcPts val="300"/>
              </a:spcAft>
            </a:pPr>
            <a:r>
              <a:rPr lang="en-IN" sz="3000" b="1" dirty="0">
                <a:solidFill>
                  <a:srgbClr val="0D0D0D"/>
                </a:solidFill>
                <a:latin typeface="Times New Roman" panose="02020603050405020304" pitchFamily="18" charset="0"/>
                <a:cs typeface="Times New Roman" panose="02020603050405020304" pitchFamily="18" charset="0"/>
              </a:rPr>
              <a:t>Future Enhancements</a:t>
            </a:r>
            <a:endParaRPr lang="en-IN" sz="3000" b="1" dirty="0">
              <a:solidFill>
                <a:srgbClr val="0D0D0D"/>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89527" y="1511035"/>
            <a:ext cx="10852728" cy="5859553"/>
          </a:xfrm>
          <a:prstGeom prst="rect">
            <a:avLst/>
          </a:prstGeom>
          <a:noFill/>
        </p:spPr>
        <p:txBody>
          <a:bodyPr wrap="square">
            <a:spAutoFit/>
          </a:bodyPr>
          <a:lstStyle/>
          <a:p>
            <a:pPr algn="just">
              <a:lnSpc>
                <a:spcPct val="150000"/>
              </a:lnSpc>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Extend the system to support </a:t>
            </a:r>
            <a:r>
              <a:rPr lang="en-US" b="1" i="0" dirty="0">
                <a:solidFill>
                  <a:srgbClr val="0D0D0D"/>
                </a:solidFill>
                <a:effectLst/>
                <a:latin typeface="Times New Roman" panose="02020603050405020304" pitchFamily="18" charset="0"/>
                <a:cs typeface="Times New Roman" panose="02020603050405020304" pitchFamily="18" charset="0"/>
              </a:rPr>
              <a:t>additional low-resource and regional languages</a:t>
            </a:r>
            <a:r>
              <a:rPr lang="en-US" b="0" i="0" dirty="0">
                <a:solidFill>
                  <a:srgbClr val="0D0D0D"/>
                </a:solidFill>
                <a:effectLst/>
                <a:latin typeface="Times New Roman" panose="02020603050405020304" pitchFamily="18" charset="0"/>
                <a:cs typeface="Times New Roman" panose="02020603050405020304" pitchFamily="18" charset="0"/>
              </a:rPr>
              <a:t>, improving inclusivity and global accessibility.</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Adapt the summarization model to work across </a:t>
            </a:r>
            <a:r>
              <a:rPr lang="en-US" b="1" i="0" dirty="0">
                <a:solidFill>
                  <a:srgbClr val="0D0D0D"/>
                </a:solidFill>
                <a:effectLst/>
                <a:latin typeface="Times New Roman" panose="02020603050405020304" pitchFamily="18" charset="0"/>
                <a:cs typeface="Times New Roman" panose="02020603050405020304" pitchFamily="18" charset="0"/>
              </a:rPr>
              <a:t>multiple domains</a:t>
            </a:r>
            <a:r>
              <a:rPr lang="en-US" b="0" i="0" dirty="0">
                <a:solidFill>
                  <a:srgbClr val="0D0D0D"/>
                </a:solidFill>
                <a:effectLst/>
                <a:latin typeface="Times New Roman" panose="02020603050405020304" pitchFamily="18" charset="0"/>
                <a:cs typeface="Times New Roman" panose="02020603050405020304" pitchFamily="18" charset="0"/>
              </a:rPr>
              <a:t> such as medical, legal, academic, and social media texts.</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Enhance performance on </a:t>
            </a:r>
            <a:r>
              <a:rPr lang="en-US" b="1" i="0" dirty="0">
                <a:solidFill>
                  <a:srgbClr val="0D0D0D"/>
                </a:solidFill>
                <a:effectLst/>
                <a:latin typeface="Times New Roman" panose="02020603050405020304" pitchFamily="18" charset="0"/>
                <a:cs typeface="Times New Roman" panose="02020603050405020304" pitchFamily="18" charset="0"/>
              </a:rPr>
              <a:t>long documents</a:t>
            </a:r>
            <a:r>
              <a:rPr lang="en-US" b="0" i="0" dirty="0">
                <a:solidFill>
                  <a:srgbClr val="0D0D0D"/>
                </a:solidFill>
                <a:effectLst/>
                <a:latin typeface="Times New Roman" panose="02020603050405020304" pitchFamily="18" charset="0"/>
                <a:cs typeface="Times New Roman" panose="02020603050405020304" pitchFamily="18" charset="0"/>
              </a:rPr>
              <a:t> by integrating long-context Transformer architectures or hierarchical summarization techniques.</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Incorporate </a:t>
            </a:r>
            <a:r>
              <a:rPr lang="en-US" b="1" i="0" dirty="0">
                <a:solidFill>
                  <a:srgbClr val="0D0D0D"/>
                </a:solidFill>
                <a:effectLst/>
                <a:latin typeface="Times New Roman" panose="02020603050405020304" pitchFamily="18" charset="0"/>
                <a:cs typeface="Times New Roman" panose="02020603050405020304" pitchFamily="18" charset="0"/>
              </a:rPr>
              <a:t>human-in-the-loop evaluation</a:t>
            </a:r>
            <a:r>
              <a:rPr lang="en-US" b="0" i="0" dirty="0">
                <a:solidFill>
                  <a:srgbClr val="0D0D0D"/>
                </a:solidFill>
                <a:effectLst/>
                <a:latin typeface="Times New Roman" panose="02020603050405020304" pitchFamily="18" charset="0"/>
                <a:cs typeface="Times New Roman" panose="02020603050405020304" pitchFamily="18" charset="0"/>
              </a:rPr>
              <a:t> to refine summary quality based on user feedback and expert judgment.</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Improve computational efficiency through </a:t>
            </a:r>
            <a:r>
              <a:rPr lang="en-US" b="1" i="0" dirty="0">
                <a:solidFill>
                  <a:srgbClr val="0D0D0D"/>
                </a:solidFill>
                <a:effectLst/>
                <a:latin typeface="Times New Roman" panose="02020603050405020304" pitchFamily="18" charset="0"/>
                <a:cs typeface="Times New Roman" panose="02020603050405020304" pitchFamily="18" charset="0"/>
              </a:rPr>
              <a:t>model optimization, pruning, or distillation</a:t>
            </a:r>
            <a:r>
              <a:rPr lang="en-US" b="0" i="0" dirty="0">
                <a:solidFill>
                  <a:srgbClr val="0D0D0D"/>
                </a:solidFill>
                <a:effectLst/>
                <a:latin typeface="Times New Roman" panose="02020603050405020304" pitchFamily="18" charset="0"/>
                <a:cs typeface="Times New Roman" panose="02020603050405020304" pitchFamily="18" charset="0"/>
              </a:rPr>
              <a:t> for faster and cost-effective deployment.</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Deploy the system as a </a:t>
            </a:r>
            <a:r>
              <a:rPr lang="en-US" b="1" i="0" dirty="0">
                <a:solidFill>
                  <a:srgbClr val="0D0D0D"/>
                </a:solidFill>
                <a:effectLst/>
                <a:latin typeface="Times New Roman" panose="02020603050405020304" pitchFamily="18" charset="0"/>
                <a:cs typeface="Times New Roman" panose="02020603050405020304" pitchFamily="18" charset="0"/>
              </a:rPr>
              <a:t>scalable web or mobile application</a:t>
            </a:r>
            <a:r>
              <a:rPr lang="en-US" b="0" i="0" dirty="0">
                <a:solidFill>
                  <a:srgbClr val="0D0D0D"/>
                </a:solidFill>
                <a:effectLst/>
                <a:latin typeface="Times New Roman" panose="02020603050405020304" pitchFamily="18" charset="0"/>
                <a:cs typeface="Times New Roman" panose="02020603050405020304" pitchFamily="18" charset="0"/>
              </a:rPr>
              <a:t> with real-time summarization capabilities for practical use.</a:t>
            </a: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None/>
            </a:pP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86549" y="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47915" y="65084"/>
            <a:ext cx="1348392" cy="1342884"/>
          </a:xfrm>
          <a:prstGeom prst="rect">
            <a:avLst/>
          </a:prstGeom>
          <a:noFill/>
          <a:ln>
            <a:noFill/>
          </a:ln>
        </p:spPr>
      </p:pic>
      <p:sp>
        <p:nvSpPr>
          <p:cNvPr id="7" name="TextBox 6"/>
          <p:cNvSpPr txBox="1"/>
          <p:nvPr/>
        </p:nvSpPr>
        <p:spPr>
          <a:xfrm>
            <a:off x="4147127" y="459527"/>
            <a:ext cx="6096000" cy="553998"/>
          </a:xfrm>
          <a:prstGeom prst="rect">
            <a:avLst/>
          </a:prstGeom>
          <a:noFill/>
        </p:spPr>
        <p:txBody>
          <a:bodyPr wrap="square">
            <a:spAutoFit/>
          </a:bodyPr>
          <a:lstStyle/>
          <a:p>
            <a:pPr>
              <a:spcAft>
                <a:spcPts val="300"/>
              </a:spcAft>
            </a:pPr>
            <a:r>
              <a:rPr lang="en-IN" sz="3000" b="1" dirty="0">
                <a:solidFill>
                  <a:srgbClr val="0D0D0D"/>
                </a:solidFill>
                <a:latin typeface="Times New Roman" panose="02020603050405020304" pitchFamily="18" charset="0"/>
                <a:cs typeface="Times New Roman" panose="02020603050405020304" pitchFamily="18" charset="0"/>
              </a:rPr>
              <a:t>References</a:t>
            </a:r>
            <a:endParaRPr lang="en-IN" sz="3000" b="1" dirty="0">
              <a:solidFill>
                <a:srgbClr val="0D0D0D"/>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654107" y="1769239"/>
            <a:ext cx="10501745" cy="4197559"/>
          </a:xfrm>
          <a:prstGeom prst="rect">
            <a:avLst/>
          </a:prstGeom>
          <a:noFill/>
        </p:spPr>
        <p:txBody>
          <a:bodyPr wrap="square">
            <a:spAutoFit/>
          </a:bodyPr>
          <a:lstStyle/>
          <a:p>
            <a:pPr algn="just">
              <a:lnSpc>
                <a:spcPct val="150000"/>
              </a:lnSpc>
              <a:buFont typeface="Arial" panose="020B0604020202020204" pitchFamily="34" charset="0"/>
              <a:buChar char="•"/>
            </a:pPr>
            <a:r>
              <a:rPr lang="en-IN" b="0" i="0" dirty="0">
                <a:solidFill>
                  <a:srgbClr val="0D0D0D"/>
                </a:solidFill>
                <a:effectLst/>
                <a:latin typeface="Times New Roman" panose="02020603050405020304" pitchFamily="18" charset="0"/>
                <a:cs typeface="Times New Roman" panose="02020603050405020304" pitchFamily="18" charset="0"/>
              </a:rPr>
              <a:t>J. Wang, F. Meng, D. Zheng, Y. Liang, Z. Li, J. Qu, and J. Zhou, “Towards Unifying Multi‑Lingual and Cross‑Lingual Summarization with Many‑to‑Many Models,” </a:t>
            </a:r>
            <a:r>
              <a:rPr lang="en-IN" b="0" i="0" dirty="0" err="1">
                <a:solidFill>
                  <a:srgbClr val="0D0D0D"/>
                </a:solidFill>
                <a:effectLst/>
                <a:latin typeface="Times New Roman" panose="02020603050405020304" pitchFamily="18" charset="0"/>
                <a:cs typeface="Times New Roman" panose="02020603050405020304" pitchFamily="18" charset="0"/>
              </a:rPr>
              <a:t>arXiv</a:t>
            </a:r>
            <a:r>
              <a:rPr lang="en-IN" b="0" i="0" dirty="0">
                <a:solidFill>
                  <a:srgbClr val="0D0D0D"/>
                </a:solidFill>
                <a:effectLst/>
                <a:latin typeface="Times New Roman" panose="02020603050405020304" pitchFamily="18" charset="0"/>
                <a:cs typeface="Times New Roman" panose="02020603050405020304" pitchFamily="18" charset="0"/>
              </a:rPr>
              <a:t> Preprint, May 2023. </a:t>
            </a:r>
            <a:endParaRPr lang="en-IN"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b="0" i="0" dirty="0">
                <a:solidFill>
                  <a:srgbClr val="0D0D0D"/>
                </a:solidFill>
                <a:effectLst/>
                <a:latin typeface="Times New Roman" panose="02020603050405020304" pitchFamily="18" charset="0"/>
                <a:cs typeface="Times New Roman" panose="02020603050405020304" pitchFamily="18" charset="0"/>
              </a:rPr>
              <a:t>E. </a:t>
            </a:r>
            <a:r>
              <a:rPr lang="en-IN" b="0" i="0" dirty="0" err="1">
                <a:solidFill>
                  <a:srgbClr val="0D0D0D"/>
                </a:solidFill>
                <a:effectLst/>
                <a:latin typeface="Times New Roman" panose="02020603050405020304" pitchFamily="18" charset="0"/>
                <a:cs typeface="Times New Roman" panose="02020603050405020304" pitchFamily="18" charset="0"/>
              </a:rPr>
              <a:t>Daraghmi</a:t>
            </a:r>
            <a:r>
              <a:rPr lang="en-IN" b="0" i="0" dirty="0">
                <a:solidFill>
                  <a:srgbClr val="0D0D0D"/>
                </a:solidFill>
                <a:effectLst/>
                <a:latin typeface="Times New Roman" panose="02020603050405020304" pitchFamily="18" charset="0"/>
                <a:cs typeface="Times New Roman" panose="02020603050405020304" pitchFamily="18" charset="0"/>
              </a:rPr>
              <a:t>, L. </a:t>
            </a:r>
            <a:r>
              <a:rPr lang="en-IN" b="0" i="0" dirty="0" err="1">
                <a:solidFill>
                  <a:srgbClr val="0D0D0D"/>
                </a:solidFill>
                <a:effectLst/>
                <a:latin typeface="Times New Roman" panose="02020603050405020304" pitchFamily="18" charset="0"/>
                <a:cs typeface="Times New Roman" panose="02020603050405020304" pitchFamily="18" charset="0"/>
              </a:rPr>
              <a:t>Atwe</a:t>
            </a:r>
            <a:r>
              <a:rPr lang="en-IN" b="0" i="0" dirty="0">
                <a:solidFill>
                  <a:srgbClr val="0D0D0D"/>
                </a:solidFill>
                <a:effectLst/>
                <a:latin typeface="Times New Roman" panose="02020603050405020304" pitchFamily="18" charset="0"/>
                <a:cs typeface="Times New Roman" panose="02020603050405020304" pitchFamily="18" charset="0"/>
              </a:rPr>
              <a:t>, and A. Jaber, “A Comparative Study of PEGASUS, BART, and T5 for Text Summarization Across Diverse Datasets,” Future Internet, vol. 17, no. 9, 2025. </a:t>
            </a:r>
            <a:endParaRPr lang="en-IN"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b="0" i="0" dirty="0">
                <a:solidFill>
                  <a:srgbClr val="0D0D0D"/>
                </a:solidFill>
                <a:effectLst/>
                <a:latin typeface="Times New Roman" panose="02020603050405020304" pitchFamily="18" charset="0"/>
                <a:cs typeface="Times New Roman" panose="02020603050405020304" pitchFamily="18" charset="0"/>
              </a:rPr>
              <a:t>R. Krishna, K. M. Somasundaram, P. Arulmozhivarman, et al., “Deep learning for text summarization using NLP for automated news digest,” Sci. Rep., vol. 15, 36343, 2025. </a:t>
            </a:r>
            <a:endParaRPr lang="en-IN"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b="0" i="0" dirty="0">
                <a:solidFill>
                  <a:srgbClr val="0D0D0D"/>
                </a:solidFill>
                <a:effectLst/>
                <a:latin typeface="Times New Roman" panose="02020603050405020304" pitchFamily="18" charset="0"/>
                <a:cs typeface="Times New Roman" panose="02020603050405020304" pitchFamily="18" charset="0"/>
              </a:rPr>
              <a:t>P. Dhakal and D. S. Baral, “Abstractive Summarization of Low‑Resourced Nepali Language Using Multilingual Transformers,” Proc. </a:t>
            </a:r>
            <a:r>
              <a:rPr lang="en-IN" b="0" i="0" dirty="0" err="1">
                <a:solidFill>
                  <a:srgbClr val="0D0D0D"/>
                </a:solidFill>
                <a:effectLst/>
                <a:latin typeface="Times New Roman" panose="02020603050405020304" pitchFamily="18" charset="0"/>
                <a:cs typeface="Times New Roman" panose="02020603050405020304" pitchFamily="18" charset="0"/>
              </a:rPr>
              <a:t>CHiPSAL</a:t>
            </a:r>
            <a:r>
              <a:rPr lang="en-IN" b="0" i="0" dirty="0">
                <a:solidFill>
                  <a:srgbClr val="0D0D0D"/>
                </a:solidFill>
                <a:effectLst/>
                <a:latin typeface="Times New Roman" panose="02020603050405020304" pitchFamily="18" charset="0"/>
                <a:cs typeface="Times New Roman" panose="02020603050405020304" pitchFamily="18" charset="0"/>
              </a:rPr>
              <a:t> 2025, pp. 124–133, 2025. </a:t>
            </a:r>
            <a:endParaRPr lang="en-IN" b="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b="0" i="0" dirty="0">
                <a:solidFill>
                  <a:srgbClr val="0D0D0D"/>
                </a:solidFill>
                <a:effectLst/>
                <a:latin typeface="Times New Roman" panose="02020603050405020304" pitchFamily="18" charset="0"/>
                <a:cs typeface="Times New Roman" panose="02020603050405020304" pitchFamily="18" charset="0"/>
              </a:rPr>
              <a:t>M. Azhar, A. Amjad, G. Farid, D. A. Dewi, and M. </a:t>
            </a:r>
            <a:r>
              <a:rPr lang="en-IN" b="0" i="0" dirty="0" err="1">
                <a:solidFill>
                  <a:srgbClr val="0D0D0D"/>
                </a:solidFill>
                <a:effectLst/>
                <a:latin typeface="Times New Roman" panose="02020603050405020304" pitchFamily="18" charset="0"/>
                <a:cs typeface="Times New Roman" panose="02020603050405020304" pitchFamily="18" charset="0"/>
              </a:rPr>
              <a:t>Batumalay</a:t>
            </a:r>
            <a:r>
              <a:rPr lang="en-IN" b="0" i="0" dirty="0">
                <a:solidFill>
                  <a:srgbClr val="0D0D0D"/>
                </a:solidFill>
                <a:effectLst/>
                <a:latin typeface="Times New Roman" panose="02020603050405020304" pitchFamily="18" charset="0"/>
                <a:cs typeface="Times New Roman" panose="02020603050405020304" pitchFamily="18" charset="0"/>
              </a:rPr>
              <a:t>, “Efficient Transformer‑Based Abstractive Urdu Text Summarization Through Selective Attention Pruning,” Information, vol. 16, no. 11, 991, 2025.</a:t>
            </a:r>
            <a:endParaRPr lang="en-IN" b="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28A0092B-C50C-407E-A947-70E740481C1C}">
                <a14:useLocalDpi xmlns:a14="http://schemas.microsoft.com/office/drawing/2010/main" val="0"/>
              </a:ext>
            </a:extLst>
          </a:blip>
          <a:srcRect/>
          <a:stretch>
            <a:fillRect/>
          </a:stretch>
        </p:blipFill>
        <p:spPr>
          <a:xfrm>
            <a:off x="160844" y="64770"/>
            <a:ext cx="1135117" cy="1342884"/>
          </a:xfrm>
          <a:prstGeom prst="rect">
            <a:avLst/>
          </a:prstGeom>
          <a:noFill/>
        </p:spPr>
      </p:pic>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649490" y="65084"/>
            <a:ext cx="1348392" cy="1342884"/>
          </a:xfrm>
          <a:prstGeom prst="rect">
            <a:avLst/>
          </a:prstGeom>
          <a:noFill/>
          <a:ln>
            <a:noFill/>
          </a:ln>
        </p:spPr>
      </p:pic>
      <p:sp>
        <p:nvSpPr>
          <p:cNvPr id="7" name="TextBox 6"/>
          <p:cNvSpPr txBox="1"/>
          <p:nvPr/>
        </p:nvSpPr>
        <p:spPr>
          <a:xfrm>
            <a:off x="4553528" y="2764074"/>
            <a:ext cx="6096000" cy="553998"/>
          </a:xfrm>
          <a:prstGeom prst="rect">
            <a:avLst/>
          </a:prstGeom>
          <a:noFill/>
        </p:spPr>
        <p:txBody>
          <a:bodyPr wrap="square">
            <a:spAutoFit/>
          </a:bodyPr>
          <a:lstStyle/>
          <a:p>
            <a:pPr>
              <a:spcAft>
                <a:spcPts val="300"/>
              </a:spcAft>
            </a:pPr>
            <a:r>
              <a:rPr lang="en-IN" sz="3000" b="1" dirty="0">
                <a:solidFill>
                  <a:srgbClr val="0D0D0D"/>
                </a:solidFill>
                <a:latin typeface="Times New Roman" panose="02020603050405020304" pitchFamily="18" charset="0"/>
                <a:cs typeface="Times New Roman" panose="02020603050405020304" pitchFamily="18" charset="0"/>
              </a:rPr>
              <a:t>THANK YOU</a:t>
            </a:r>
            <a:endParaRPr lang="en-IN" sz="3000" b="1" dirty="0">
              <a:solidFill>
                <a:srgbClr val="0D0D0D"/>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8828</Words>
  <Application>WPS Presentation</Application>
  <PresentationFormat>Widescreen</PresentationFormat>
  <Paragraphs>228</Paragraphs>
  <Slides>16</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Times New Roman</vt:lpstr>
      <vt:lpstr>Times New Roman</vt:lpstr>
      <vt:lpstr>Calibri Light</vt:lpstr>
      <vt:lpstr>Microsoft YaHei</vt:lpstr>
      <vt:lpstr>Arial Unicode MS</vt:lpstr>
      <vt:lpstr>Calibri</vt:lpstr>
      <vt:lpstr>Aptos</vt:lpstr>
      <vt:lpstr>Segoe UI</vt:lpstr>
      <vt:lpstr>Office Theme</vt:lpstr>
      <vt:lpstr>CAPSTONE PROJECT PRESENTATION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PRESENTATION</dc:title>
  <dc:creator>Panjagalla Narasimha</dc:creator>
  <cp:lastModifiedBy>WPS_1731344968</cp:lastModifiedBy>
  <cp:revision>12</cp:revision>
  <dcterms:created xsi:type="dcterms:W3CDTF">2025-12-06T04:38:00Z</dcterms:created>
  <dcterms:modified xsi:type="dcterms:W3CDTF">2026-09-06T09:30:47Z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066571B30CCA45D4A7661ACF195C1F06_13</vt:lpwstr>
  </property>
  <property fmtid="{D5CDD505-2E9C-101B-9397-08002B2CF9AE}" pid="3" name="KSOProductBuildVer">
    <vt:lpwstr>2057-12.2.0.23206</vt:lpwstr>
  </property>
</Properties>
</file>